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6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4545"/>
    <a:srgbClr val="B8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EA3235-2EB2-7DDC-BB8B-B6897E989784}" v="17" dt="2025-06-26T23:16:40.981"/>
    <p1510:client id="{C9BFCB1E-C103-40B9-85AD-F1CC9C5B246A}" v="4404" dt="2025-06-26T06:21:31.286"/>
    <p1510:client id="{E23E52CE-07BF-44E0-8287-7AFC4F6D1B27}" v="14" dt="2025-06-27T07:49:3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2025-06-27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D132EA-D6F2-8052-CCEC-D7A73A1303A5}"/>
              </a:ext>
            </a:extLst>
          </p:cNvPr>
          <p:cNvSpPr txBox="1"/>
          <p:nvPr/>
        </p:nvSpPr>
        <p:spPr>
          <a:xfrm>
            <a:off x="1540328" y="1950547"/>
            <a:ext cx="317862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3200" b="1" dirty="0">
                <a:latin typeface="맑은 고딕"/>
                <a:ea typeface="맑은 고딕"/>
                <a:cs typeface="Calibri"/>
              </a:rPr>
              <a:t>UI 설계 보고서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5CBF4C-A7E1-8F5D-33FA-9E047B62A6E2}"/>
              </a:ext>
            </a:extLst>
          </p:cNvPr>
          <p:cNvSpPr/>
          <p:nvPr/>
        </p:nvSpPr>
        <p:spPr>
          <a:xfrm>
            <a:off x="4297" y="3438"/>
            <a:ext cx="12192573" cy="475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BE6106-EF42-5979-5FF2-25D3D8D4C9D7}"/>
              </a:ext>
            </a:extLst>
          </p:cNvPr>
          <p:cNvSpPr/>
          <p:nvPr/>
        </p:nvSpPr>
        <p:spPr>
          <a:xfrm>
            <a:off x="4297" y="6380174"/>
            <a:ext cx="12192573" cy="4755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B44977-9F98-C79F-CBA4-1F2FB0B04529}"/>
              </a:ext>
            </a:extLst>
          </p:cNvPr>
          <p:cNvSpPr txBox="1"/>
          <p:nvPr/>
        </p:nvSpPr>
        <p:spPr>
          <a:xfrm>
            <a:off x="1544626" y="3107871"/>
            <a:ext cx="4515852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>
                <a:latin typeface="Calibri"/>
                <a:ea typeface="맑은 고딕"/>
                <a:cs typeface="Calibri"/>
              </a:rPr>
              <a:t>쌍용교육센터 3강의실 4조</a:t>
            </a:r>
          </a:p>
          <a:p>
            <a:r>
              <a:rPr lang="ko-KR" altLang="en-US" b="1" dirty="0">
                <a:latin typeface="Calibri"/>
                <a:ea typeface="맑은 고딕"/>
                <a:cs typeface="Calibri"/>
              </a:rPr>
              <a:t>1차 프로젝트 - 사원 관리 프로그램</a:t>
            </a:r>
          </a:p>
          <a:p>
            <a:endParaRPr lang="ko-KR" altLang="en-US" b="1" dirty="0">
              <a:latin typeface="Calibri"/>
              <a:ea typeface="맑은 고딕"/>
              <a:cs typeface="Calibri"/>
            </a:endParaRPr>
          </a:p>
          <a:p>
            <a:endParaRPr lang="ko-KR" altLang="en-US" b="1" dirty="0">
              <a:latin typeface="Calibri"/>
              <a:ea typeface="맑은 고딕"/>
              <a:cs typeface="Calibri"/>
            </a:endParaRPr>
          </a:p>
          <a:p>
            <a:endParaRPr lang="ko-KR" altLang="en-US" b="1" dirty="0">
              <a:latin typeface="Calibri"/>
              <a:ea typeface="맑은 고딕"/>
              <a:cs typeface="Calibri"/>
            </a:endParaRPr>
          </a:p>
          <a:p>
            <a:r>
              <a:rPr lang="ko-KR" altLang="en-US" sz="1400" b="1" err="1">
                <a:latin typeface="Calibri"/>
                <a:ea typeface="맑은 고딕"/>
                <a:cs typeface="Calibri"/>
              </a:rPr>
              <a:t>신준수</a:t>
            </a:r>
            <a:r>
              <a:rPr lang="ko-KR" altLang="en-US" sz="1400" b="1" dirty="0">
                <a:latin typeface="Calibri"/>
                <a:ea typeface="맑은 고딕"/>
                <a:cs typeface="Calibri"/>
              </a:rPr>
              <a:t>, 장영환, </a:t>
            </a:r>
            <a:r>
              <a:rPr lang="ko-KR" altLang="en-US" sz="1400" b="1" err="1">
                <a:latin typeface="Calibri"/>
                <a:ea typeface="맑은 고딕"/>
                <a:cs typeface="Calibri"/>
              </a:rPr>
              <a:t>정상준</a:t>
            </a:r>
            <a:r>
              <a:rPr lang="ko-KR" altLang="en-US" sz="1400" b="1" dirty="0">
                <a:latin typeface="Calibri"/>
                <a:ea typeface="맑은 고딕"/>
                <a:cs typeface="Calibri"/>
              </a:rPr>
              <a:t>, </a:t>
            </a:r>
            <a:r>
              <a:rPr lang="ko-KR" altLang="en-US" sz="1400" b="1" err="1">
                <a:latin typeface="Calibri"/>
                <a:ea typeface="맑은 고딕"/>
                <a:cs typeface="Calibri"/>
              </a:rPr>
              <a:t>성용준</a:t>
            </a:r>
            <a:r>
              <a:rPr lang="ko-KR" altLang="en-US" sz="1400" b="1" dirty="0">
                <a:latin typeface="Calibri"/>
                <a:ea typeface="맑은 고딕"/>
                <a:cs typeface="Calibri"/>
              </a:rPr>
              <a:t>, 최종민</a:t>
            </a:r>
          </a:p>
        </p:txBody>
      </p:sp>
    </p:spTree>
    <p:extLst>
      <p:ext uri="{BB962C8B-B14F-4D97-AF65-F5344CB8AC3E}">
        <p14:creationId xmlns:p14="http://schemas.microsoft.com/office/powerpoint/2010/main" val="4102368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681E4-170A-0D4D-B285-AEFC4AA5D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3F576-0E51-BFD7-AB68-919A150D2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10" y="2691231"/>
            <a:ext cx="12200020" cy="1325563"/>
          </a:xfrm>
        </p:spPr>
        <p:txBody>
          <a:bodyPr>
            <a:normAutofit/>
          </a:bodyPr>
          <a:lstStyle/>
          <a:p>
            <a:pPr algn="ctr"/>
            <a:r>
              <a:rPr lang="ko-KR" altLang="en-US" sz="3600" dirty="0">
                <a:latin typeface="Calibri"/>
                <a:ea typeface="맑은 고딕"/>
                <a:cs typeface="Calibri"/>
              </a:rPr>
              <a:t>로그인 화면 UI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84F92-D3D3-2027-29C7-7A46A820295D}"/>
              </a:ext>
            </a:extLst>
          </p:cNvPr>
          <p:cNvSpPr txBox="1"/>
          <p:nvPr/>
        </p:nvSpPr>
        <p:spPr>
          <a:xfrm>
            <a:off x="87086" y="4210811"/>
            <a:ext cx="120069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2">
                    <a:lumMod val="49000"/>
                  </a:schemeClr>
                </a:solidFill>
                <a:latin typeface="Calibri"/>
                <a:ea typeface="맑은 고딕"/>
                <a:cs typeface="Calibri"/>
              </a:rPr>
              <a:t>아이디와 비밀번호 입력 시 로그인 버튼을 누르면 로그인 수행</a:t>
            </a:r>
          </a:p>
        </p:txBody>
      </p:sp>
      <p:pic>
        <p:nvPicPr>
          <p:cNvPr id="6" name="그래픽 5" descr="컴퓨터 단색으로 채워진">
            <a:extLst>
              <a:ext uri="{FF2B5EF4-FFF2-40B4-BE49-F238E27FC236}">
                <a16:creationId xmlns:a16="http://schemas.microsoft.com/office/drawing/2014/main" id="{44B59F26-153A-68A1-070C-F3E3C0D4B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28774" y="1688431"/>
            <a:ext cx="914400" cy="9144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3FEFCB9-4963-524B-E5B1-412E97D8FBB3}"/>
              </a:ext>
            </a:extLst>
          </p:cNvPr>
          <p:cNvSpPr/>
          <p:nvPr/>
        </p:nvSpPr>
        <p:spPr>
          <a:xfrm>
            <a:off x="4297" y="3438"/>
            <a:ext cx="12192573" cy="47553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EE47D3-574E-02A7-958B-699B58B163A5}"/>
              </a:ext>
            </a:extLst>
          </p:cNvPr>
          <p:cNvSpPr/>
          <p:nvPr/>
        </p:nvSpPr>
        <p:spPr>
          <a:xfrm>
            <a:off x="4297" y="6380174"/>
            <a:ext cx="12192573" cy="47553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011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B712D4-2CBA-92CE-AFC7-C3DE6CAE7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713" y="2171198"/>
            <a:ext cx="5041231" cy="2515602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99314CA6-0636-D99A-AC54-F1C66539134D}"/>
              </a:ext>
            </a:extLst>
          </p:cNvPr>
          <p:cNvSpPr/>
          <p:nvPr/>
        </p:nvSpPr>
        <p:spPr>
          <a:xfrm>
            <a:off x="3549463" y="3011187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508" name="순서도: 연결자 507">
            <a:extLst>
              <a:ext uri="{FF2B5EF4-FFF2-40B4-BE49-F238E27FC236}">
                <a16:creationId xmlns:a16="http://schemas.microsoft.com/office/drawing/2014/main" id="{645C69BC-611A-D0AA-2890-E1160AF45372}"/>
              </a:ext>
            </a:extLst>
          </p:cNvPr>
          <p:cNvSpPr/>
          <p:nvPr/>
        </p:nvSpPr>
        <p:spPr>
          <a:xfrm>
            <a:off x="3549462" y="3552607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</a:p>
        </p:txBody>
      </p:sp>
      <p:sp>
        <p:nvSpPr>
          <p:cNvPr id="509" name="순서도: 연결자 508">
            <a:extLst>
              <a:ext uri="{FF2B5EF4-FFF2-40B4-BE49-F238E27FC236}">
                <a16:creationId xmlns:a16="http://schemas.microsoft.com/office/drawing/2014/main" id="{8CD2E32C-7634-2D1C-50C6-9B8553B69535}"/>
              </a:ext>
            </a:extLst>
          </p:cNvPr>
          <p:cNvSpPr/>
          <p:nvPr/>
        </p:nvSpPr>
        <p:spPr>
          <a:xfrm>
            <a:off x="4522015" y="4515133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3</a:t>
            </a:r>
            <a:endParaRPr lang="ko-KR" dirty="0"/>
          </a:p>
        </p:txBody>
      </p:sp>
      <p:sp>
        <p:nvSpPr>
          <p:cNvPr id="510" name="순서도: 연결자 509">
            <a:extLst>
              <a:ext uri="{FF2B5EF4-FFF2-40B4-BE49-F238E27FC236}">
                <a16:creationId xmlns:a16="http://schemas.microsoft.com/office/drawing/2014/main" id="{04B640DF-DB71-241B-3272-F7641AC2946E}"/>
              </a:ext>
            </a:extLst>
          </p:cNvPr>
          <p:cNvSpPr/>
          <p:nvPr/>
        </p:nvSpPr>
        <p:spPr>
          <a:xfrm>
            <a:off x="5725173" y="4515133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4</a:t>
            </a:r>
          </a:p>
        </p:txBody>
      </p:sp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492F0E50-1E6C-7EB1-2463-CF6F33372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761861"/>
              </p:ext>
            </p:extLst>
          </p:nvPr>
        </p:nvGraphicFramePr>
        <p:xfrm>
          <a:off x="8679180" y="1644797"/>
          <a:ext cx="3414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로그인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아이디 텍스트 필드</a:t>
                      </a: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비밀번호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패스워드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필드</a:t>
                      </a:r>
                      <a:endParaRPr lang="en-US" altLang="ko-KR" sz="1800" b="0" i="0" u="none" strike="noStrike" noProof="0" dirty="0" err="1">
                        <a:solidFill>
                          <a:srgbClr val="000000"/>
                        </a:solidFill>
                        <a:latin typeface="Calibri"/>
                        <a:ea typeface="Malgun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로그인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취소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5C0DB5E5-2D90-144E-6599-36907CB71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771835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로그인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BEBA0DA5-F133-EDB2-C8D6-349B6EFE5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030116"/>
              </p:ext>
            </p:extLst>
          </p:nvPr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로그인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F8B904D-59EC-5808-46EA-9C68FE15213E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7492BCE-DB0F-1C5D-7611-CD642B1188C0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BE1E5-541F-87C4-E32A-915E889F7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10" y="2717586"/>
            <a:ext cx="12200020" cy="1325563"/>
          </a:xfrm>
        </p:spPr>
        <p:txBody>
          <a:bodyPr>
            <a:normAutofit/>
          </a:bodyPr>
          <a:lstStyle/>
          <a:p>
            <a:pPr algn="ctr"/>
            <a:r>
              <a:rPr lang="ko-KR" altLang="en-US" sz="3600" dirty="0">
                <a:latin typeface="Calibri"/>
                <a:ea typeface="맑은 고딕"/>
                <a:cs typeface="Calibri"/>
              </a:rPr>
              <a:t>사용자 화면 UI</a:t>
            </a:r>
          </a:p>
        </p:txBody>
      </p:sp>
      <p:pic>
        <p:nvPicPr>
          <p:cNvPr id="3" name="그래픽 2" descr="이사회실 단색으로 채워진">
            <a:extLst>
              <a:ext uri="{FF2B5EF4-FFF2-40B4-BE49-F238E27FC236}">
                <a16:creationId xmlns:a16="http://schemas.microsoft.com/office/drawing/2014/main" id="{0DF4BB84-F87C-052B-35CD-CF0E8DE8D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1600201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734B51-8ECD-28D0-53E5-3566C7E68A3E}"/>
              </a:ext>
            </a:extLst>
          </p:cNvPr>
          <p:cNvSpPr txBox="1"/>
          <p:nvPr/>
        </p:nvSpPr>
        <p:spPr>
          <a:xfrm>
            <a:off x="87086" y="4237166"/>
            <a:ext cx="120069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2">
                    <a:lumMod val="49000"/>
                  </a:schemeClr>
                </a:solidFill>
                <a:latin typeface="Calibri"/>
                <a:ea typeface="맑은 고딕"/>
                <a:cs typeface="Calibri"/>
              </a:rPr>
              <a:t>사원이 수행 가능한 기등들이 들어있는 사용자 모드​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54AB454-C27C-C577-95A3-DC998AA36126}"/>
              </a:ext>
            </a:extLst>
          </p:cNvPr>
          <p:cNvSpPr/>
          <p:nvPr/>
        </p:nvSpPr>
        <p:spPr>
          <a:xfrm>
            <a:off x="4297" y="3438"/>
            <a:ext cx="12192573" cy="47553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EA0F8BA-03B0-8682-EDE2-A63887429273}"/>
              </a:ext>
            </a:extLst>
          </p:cNvPr>
          <p:cNvSpPr/>
          <p:nvPr/>
        </p:nvSpPr>
        <p:spPr>
          <a:xfrm>
            <a:off x="4297" y="6380174"/>
            <a:ext cx="12192573" cy="47553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815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5F1D8-667F-990A-5168-3497C121B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CE872B50-E847-6665-B6F1-99D60797F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664834"/>
              </p:ext>
            </p:extLst>
          </p:nvPr>
        </p:nvGraphicFramePr>
        <p:xfrm>
          <a:off x="8679180" y="1644797"/>
          <a:ext cx="341447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298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48176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 - 홈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홈 버튼</a:t>
                      </a: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내 정보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사원 조회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업무 일지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나의 근태정보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나의 휴가정보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관리자 모드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출/퇴근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로그아웃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종료 버튼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374883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A718183A-F436-EB70-7AE2-56D8A1835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516078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홈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ED587A74-7269-66D5-7D65-856ED05D5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765268"/>
              </p:ext>
            </p:extLst>
          </p:nvPr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2" name="그림 1" descr="텍스트, 가구, 의자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58471A-9D96-7351-26C4-A66EE0260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90" y="659640"/>
            <a:ext cx="8410457" cy="5800300"/>
          </a:xfrm>
          <a:prstGeom prst="rect">
            <a:avLst/>
          </a:prstGeom>
        </p:spPr>
      </p:pic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1E383D38-EB0E-4518-B9E8-9245AF3B79A4}"/>
              </a:ext>
            </a:extLst>
          </p:cNvPr>
          <p:cNvSpPr/>
          <p:nvPr/>
        </p:nvSpPr>
        <p:spPr>
          <a:xfrm>
            <a:off x="205762" y="1271097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837A32AB-6F19-DD79-BACC-5A6CBA9A9E11}"/>
              </a:ext>
            </a:extLst>
          </p:cNvPr>
          <p:cNvSpPr/>
          <p:nvPr/>
        </p:nvSpPr>
        <p:spPr>
          <a:xfrm>
            <a:off x="205761" y="1828381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D1B9D970-E569-4A08-AB74-F5228BE5404B}"/>
              </a:ext>
            </a:extLst>
          </p:cNvPr>
          <p:cNvSpPr/>
          <p:nvPr/>
        </p:nvSpPr>
        <p:spPr>
          <a:xfrm>
            <a:off x="205761" y="2397038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3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269B7731-CC62-FDFE-6EDC-CAB76EAEF081}"/>
              </a:ext>
            </a:extLst>
          </p:cNvPr>
          <p:cNvSpPr/>
          <p:nvPr/>
        </p:nvSpPr>
        <p:spPr>
          <a:xfrm>
            <a:off x="205761" y="2988441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4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CD4C39CE-A026-383B-1B4E-A5E43132CBDB}"/>
              </a:ext>
            </a:extLst>
          </p:cNvPr>
          <p:cNvSpPr/>
          <p:nvPr/>
        </p:nvSpPr>
        <p:spPr>
          <a:xfrm>
            <a:off x="205761" y="3557097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5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C9DB092E-CE9B-F0AA-D394-366CEEECAFCA}"/>
              </a:ext>
            </a:extLst>
          </p:cNvPr>
          <p:cNvSpPr/>
          <p:nvPr/>
        </p:nvSpPr>
        <p:spPr>
          <a:xfrm>
            <a:off x="205761" y="4103008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6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17" name="순서도: 연결자 16">
            <a:extLst>
              <a:ext uri="{FF2B5EF4-FFF2-40B4-BE49-F238E27FC236}">
                <a16:creationId xmlns:a16="http://schemas.microsoft.com/office/drawing/2014/main" id="{945129FD-9F74-2059-229A-C1B5ED33E3BC}"/>
              </a:ext>
            </a:extLst>
          </p:cNvPr>
          <p:cNvSpPr/>
          <p:nvPr/>
        </p:nvSpPr>
        <p:spPr>
          <a:xfrm>
            <a:off x="205761" y="4660291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7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EA448115-3DD4-E52B-118F-102658B5A603}"/>
              </a:ext>
            </a:extLst>
          </p:cNvPr>
          <p:cNvSpPr/>
          <p:nvPr/>
        </p:nvSpPr>
        <p:spPr>
          <a:xfrm>
            <a:off x="205761" y="5206202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8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D8515BC4-2C60-7F91-C22C-FAD91B7A4499}"/>
              </a:ext>
            </a:extLst>
          </p:cNvPr>
          <p:cNvSpPr/>
          <p:nvPr/>
        </p:nvSpPr>
        <p:spPr>
          <a:xfrm>
            <a:off x="7154747" y="5649754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9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D24107E5-72BD-8162-18D6-ADF5AB2B768B}"/>
              </a:ext>
            </a:extLst>
          </p:cNvPr>
          <p:cNvSpPr/>
          <p:nvPr/>
        </p:nvSpPr>
        <p:spPr>
          <a:xfrm>
            <a:off x="7859881" y="5649754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900" dirty="0">
                <a:latin typeface="Malgun Gothic"/>
                <a:ea typeface="Malgun Gothic"/>
              </a:rPr>
              <a:t>10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49DD099-E93A-9449-AA6A-BD111C1C622E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5CF57F4-1D9E-69BD-E2E4-0AD7D9F9A5D5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997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973F7-D2BE-2E0D-0B3A-A6DDDF6D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8111DD49-ACFF-A708-30D8-D537BDDBC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019411"/>
              </p:ext>
            </p:extLst>
          </p:nvPr>
        </p:nvGraphicFramePr>
        <p:xfrm>
          <a:off x="8679180" y="1644797"/>
          <a:ext cx="3414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 - 내 정보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내 정보 수정 버튼</a:t>
                      </a: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내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정보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확인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4FE953AE-AEA2-5BCF-5858-74ABCA902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8763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내 정보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D58C28D9-9CCB-7447-1ED7-1DC62829A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018070"/>
              </p:ext>
            </p:extLst>
          </p:nvPr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372411-96FB-B5DD-97EE-822D18A96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27" y="636895"/>
            <a:ext cx="8288913" cy="5652448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C0188FAE-F4F4-70C7-A063-C5B36069C49E}"/>
              </a:ext>
            </a:extLst>
          </p:cNvPr>
          <p:cNvSpPr/>
          <p:nvPr/>
        </p:nvSpPr>
        <p:spPr>
          <a:xfrm>
            <a:off x="7507315" y="998143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7E388105-52E7-FD5B-09A0-0C1A6EC3AB4C}"/>
              </a:ext>
            </a:extLst>
          </p:cNvPr>
          <p:cNvSpPr/>
          <p:nvPr/>
        </p:nvSpPr>
        <p:spPr>
          <a:xfrm>
            <a:off x="2503135" y="1271098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D02EAC8-DBE8-F425-7EC1-C1A406E60E17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E623DE3-151E-CBFF-F7C7-23F51EB59402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6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275A8-57FB-0482-E8EE-ADD5402A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04C835A7-A975-28AA-22B7-0C74D1C1C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759972"/>
              </p:ext>
            </p:extLst>
          </p:nvPr>
        </p:nvGraphicFramePr>
        <p:xfrm>
          <a:off x="8679180" y="1644797"/>
          <a:ext cx="3414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내 정보 - 내 정보 수정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사원 이름 변경​</a:t>
                      </a: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사원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이메일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변경</a:t>
                      </a:r>
                      <a:endParaRPr lang="en-US" altLang="ko-KR" sz="1800" b="0" i="0" u="none" strike="noStrike" noProof="0" dirty="0" err="1">
                        <a:solidFill>
                          <a:srgbClr val="000000"/>
                        </a:solidFill>
                        <a:latin typeface="Calibri"/>
                        <a:ea typeface="Malgun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사원 연락처 변경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89EF63A4-9455-33F0-250E-3C0BE0AA6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978740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내 정보 수정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CD51DB1F-7A9B-1933-B2B8-619ABD357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862576"/>
              </p:ext>
            </p:extLst>
          </p:nvPr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AE0108-D586-0BD5-4B70-607793304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614" y="631778"/>
            <a:ext cx="3362325" cy="5867400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4DE19D21-203D-501A-14AB-A6F28E2A805F}"/>
              </a:ext>
            </a:extLst>
          </p:cNvPr>
          <p:cNvSpPr/>
          <p:nvPr/>
        </p:nvSpPr>
        <p:spPr>
          <a:xfrm>
            <a:off x="5983316" y="1487188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069D4D69-0165-08DB-CDE4-0A1312FF1D8E}"/>
              </a:ext>
            </a:extLst>
          </p:cNvPr>
          <p:cNvSpPr/>
          <p:nvPr/>
        </p:nvSpPr>
        <p:spPr>
          <a:xfrm>
            <a:off x="5983315" y="4034769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/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700E2E17-1593-FC0E-8452-58437C0A779E}"/>
              </a:ext>
            </a:extLst>
          </p:cNvPr>
          <p:cNvSpPr/>
          <p:nvPr/>
        </p:nvSpPr>
        <p:spPr>
          <a:xfrm>
            <a:off x="5983316" y="4569307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3</a:t>
            </a:r>
            <a:endParaRPr lang="ko-KR" dirty="0">
              <a:latin typeface="Malgun Gothic"/>
              <a:ea typeface="Malgun Gothic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0F3FADA-73EB-D208-BE04-07DAADE2C9DA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B547CFC-E367-9280-4CA2-BEF263406E6F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277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27BA1-75EC-7F88-8F88-22D1F6150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635487ED-8D46-36BA-C555-3A0358128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114206"/>
              </p:ext>
            </p:extLst>
          </p:nvPr>
        </p:nvGraphicFramePr>
        <p:xfrm>
          <a:off x="8679180" y="1644797"/>
          <a:ext cx="3414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 - 사원 조회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검색할 조건 </a:t>
                      </a:r>
                      <a:r>
                        <a:rPr lang="ko-KR" altLang="en-US" dirty="0" err="1">
                          <a:latin typeface="Calibri"/>
                        </a:rPr>
                        <a:t>콤보박스</a:t>
                      </a: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검색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값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텍스트필드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검색 결과 출력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E5922FE6-CDC9-60ED-9A25-6E66AE74B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190277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사원 조회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1E62A1EE-112D-5890-70EA-59D20AF55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245210"/>
              </p:ext>
            </p:extLst>
          </p:nvPr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D43751-F51D-9576-8B32-02681FB89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74" y="648268"/>
            <a:ext cx="8268673" cy="5629702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74A6F713-D6B2-7D25-879C-973829160DD5}"/>
              </a:ext>
            </a:extLst>
          </p:cNvPr>
          <p:cNvSpPr/>
          <p:nvPr/>
        </p:nvSpPr>
        <p:spPr>
          <a:xfrm>
            <a:off x="4891495" y="975398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A581D29F-5B62-537F-A554-9043255FBAE2}"/>
              </a:ext>
            </a:extLst>
          </p:cNvPr>
          <p:cNvSpPr/>
          <p:nvPr/>
        </p:nvSpPr>
        <p:spPr>
          <a:xfrm>
            <a:off x="4891494" y="1487188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/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692FB41C-190F-DDFC-2446-A2E621919868}"/>
              </a:ext>
            </a:extLst>
          </p:cNvPr>
          <p:cNvSpPr/>
          <p:nvPr/>
        </p:nvSpPr>
        <p:spPr>
          <a:xfrm>
            <a:off x="8053226" y="1794263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3</a:t>
            </a:r>
            <a:endParaRPr lang="ko-KR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DDFE733-400A-6EBE-7345-F5F829A4AF8A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F85BCD8-8BA4-E298-4894-EA5342529DBB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333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4779-EBFE-99F0-BC03-425FCDCD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8C456954-DFB6-0045-6048-A889A5DAB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973386"/>
              </p:ext>
            </p:extLst>
          </p:nvPr>
        </p:nvGraphicFramePr>
        <p:xfrm>
          <a:off x="8679180" y="1644797"/>
          <a:ext cx="3414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 - 업무 일지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업무일지 작성 버튼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부서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문서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조회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공유받은 문서 조회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2, 3 버튼 클릭 시 테이블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DEEDDDC4-AD60-D811-9D36-50AA85034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006890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업무 일지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681B1328-0B42-9BF9-80D4-D5B64559AE49}"/>
              </a:ext>
            </a:extLst>
          </p:cNvPr>
          <p:cNvGraphicFramePr>
            <a:graphicFrameLocks noGrp="1"/>
          </p:cNvGraphicFramePr>
          <p:nvPr/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F63DDB-3F64-FC51-F281-DC6027D04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96" y="636896"/>
            <a:ext cx="8281658" cy="5652449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6094245A-796E-AA28-F1F0-63A3001C0AF0}"/>
              </a:ext>
            </a:extLst>
          </p:cNvPr>
          <p:cNvSpPr/>
          <p:nvPr/>
        </p:nvSpPr>
        <p:spPr>
          <a:xfrm>
            <a:off x="6222151" y="1987607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E60A7F50-4069-DD03-FBC7-0EC7DB78133F}"/>
              </a:ext>
            </a:extLst>
          </p:cNvPr>
          <p:cNvSpPr/>
          <p:nvPr/>
        </p:nvSpPr>
        <p:spPr>
          <a:xfrm>
            <a:off x="6222150" y="3113547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E62D5B10-F068-745A-77DC-E28ECC9FAB48}"/>
              </a:ext>
            </a:extLst>
          </p:cNvPr>
          <p:cNvSpPr/>
          <p:nvPr/>
        </p:nvSpPr>
        <p:spPr>
          <a:xfrm>
            <a:off x="6222150" y="4216741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3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93B8D442-955B-57FE-D03C-32C9190F920D}"/>
              </a:ext>
            </a:extLst>
          </p:cNvPr>
          <p:cNvSpPr/>
          <p:nvPr/>
        </p:nvSpPr>
        <p:spPr>
          <a:xfrm>
            <a:off x="2605494" y="1862502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4</a:t>
            </a:r>
            <a:endParaRPr lang="ko-KR" dirty="0">
              <a:latin typeface="Malgun Gothic"/>
              <a:ea typeface="Malgun Gothic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3AB5684F-F43F-F4FD-710D-71DF13172666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E24FA12-93FB-EC73-7F46-A99EFE8C6043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246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2A4D5-F9A3-16D7-EA34-8AB92E8F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9587F4E2-C0FD-78FD-D2DD-791020B91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175627"/>
              </p:ext>
            </p:extLst>
          </p:nvPr>
        </p:nvGraphicFramePr>
        <p:xfrm>
          <a:off x="8679180" y="1644797"/>
          <a:ext cx="3414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업무 일지 - 업무 일지 작성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업무 일지 제목 텍스트 필드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내용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텍스트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에어리아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작성한 일지 저장 메뉴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BE7F641B-0AC4-AF1E-9AF7-CAB813030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295621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업무 일지 작성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6070B0D9-9ED8-1EBB-D4DA-45C72851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994388"/>
              </p:ext>
            </p:extLst>
          </p:nvPr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CE5DAA-24AF-8FCE-C2DA-8E32D3FC6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199" y="606401"/>
            <a:ext cx="3876675" cy="5781675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EA5CCB18-FAAE-A231-3229-9907A23E59C8}"/>
              </a:ext>
            </a:extLst>
          </p:cNvPr>
          <p:cNvSpPr/>
          <p:nvPr/>
        </p:nvSpPr>
        <p:spPr>
          <a:xfrm>
            <a:off x="3606330" y="838921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AFA65B9A-9961-D847-7DD4-6DD7FEB4C18A}"/>
              </a:ext>
            </a:extLst>
          </p:cNvPr>
          <p:cNvSpPr/>
          <p:nvPr/>
        </p:nvSpPr>
        <p:spPr>
          <a:xfrm>
            <a:off x="2605493" y="1646413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1A9BB6EC-202D-7D7B-2BE6-A2CEBFE09BEF}"/>
              </a:ext>
            </a:extLst>
          </p:cNvPr>
          <p:cNvSpPr/>
          <p:nvPr/>
        </p:nvSpPr>
        <p:spPr>
          <a:xfrm>
            <a:off x="2059583" y="964025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3</a:t>
            </a:r>
            <a:endParaRPr lang="ko-KR" dirty="0">
              <a:latin typeface="Malgun Gothic"/>
              <a:ea typeface="Malgun Gothic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6136C6B-47A8-DEE7-8145-61B1CF931A3D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2D5757D-932C-B2BE-0290-D5B3E770BAE5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829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4CF8B-61C0-2106-0562-44B0D5E61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8658BDC7-7580-7EA3-7AF1-15C5BB383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21092"/>
              </p:ext>
            </p:extLst>
          </p:nvPr>
        </p:nvGraphicFramePr>
        <p:xfrm>
          <a:off x="8679180" y="1644797"/>
          <a:ext cx="341447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 - 나의 근태정보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연도 설정 </a:t>
                      </a:r>
                      <a:r>
                        <a:rPr lang="ko-KR" altLang="en-US" dirty="0" err="1">
                          <a:latin typeface="Calibri"/>
                        </a:rPr>
                        <a:t>콤보박스</a:t>
                      </a: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월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설정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콤보박스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근태정보 조회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근태정보 조회 테이블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4582DD90-7E4A-374A-C324-B5EE883FA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821546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나의 근태정보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2B453315-2E6F-33D4-E565-7C25E114F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550949"/>
              </p:ext>
            </p:extLst>
          </p:nvPr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CAE15A-B0AB-D96D-EB65-56BC35196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86" y="693762"/>
            <a:ext cx="8120823" cy="5550090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03EA351B-2417-6FCA-EBE3-1FA8F058F9F6}"/>
              </a:ext>
            </a:extLst>
          </p:cNvPr>
          <p:cNvSpPr/>
          <p:nvPr/>
        </p:nvSpPr>
        <p:spPr>
          <a:xfrm>
            <a:off x="4482060" y="1111876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FF84E74D-52B5-4A62-9EC2-2475CD70C239}"/>
              </a:ext>
            </a:extLst>
          </p:cNvPr>
          <p:cNvSpPr/>
          <p:nvPr/>
        </p:nvSpPr>
        <p:spPr>
          <a:xfrm>
            <a:off x="5039343" y="1111875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1E989787-6B5D-2A58-97A9-89C7E537E932}"/>
              </a:ext>
            </a:extLst>
          </p:cNvPr>
          <p:cNvSpPr/>
          <p:nvPr/>
        </p:nvSpPr>
        <p:spPr>
          <a:xfrm>
            <a:off x="5562507" y="1111875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3</a:t>
            </a:r>
            <a:endParaRPr lang="ko-KR" dirty="0"/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03F7265C-CDD0-09D3-1790-C5D6063F639D}"/>
              </a:ext>
            </a:extLst>
          </p:cNvPr>
          <p:cNvSpPr/>
          <p:nvPr/>
        </p:nvSpPr>
        <p:spPr>
          <a:xfrm>
            <a:off x="3049045" y="1487189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4</a:t>
            </a:r>
            <a:endParaRPr lang="ko-KR" dirty="0">
              <a:latin typeface="Malgun Gothic"/>
              <a:ea typeface="Malgun Gothic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C05A0650-4EAB-10AB-3033-03CFD3C0054B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631D114-2B36-EEC3-8EA3-C045DC2E8C53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336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C51A1-C8CA-6886-5958-DAEFDA579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9B3F494F-8A3C-0277-89C1-AFFC0C83A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079419"/>
              </p:ext>
            </p:extLst>
          </p:nvPr>
        </p:nvGraphicFramePr>
        <p:xfrm>
          <a:off x="8679180" y="1644797"/>
          <a:ext cx="341447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 - 나의 휴가정보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연도 설정 </a:t>
                      </a:r>
                      <a:r>
                        <a:rPr lang="ko-KR" altLang="en-US" dirty="0" err="1">
                          <a:latin typeface="Calibri"/>
                        </a:rPr>
                        <a:t>콤보박스</a:t>
                      </a: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총 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휴가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레이블</a:t>
                      </a:r>
                      <a:endParaRPr lang="en-US" altLang="ko-KR" sz="1800" b="0" i="0" u="none" strike="noStrike" noProof="0" dirty="0" err="1">
                        <a:solidFill>
                          <a:srgbClr val="000000"/>
                        </a:solidFill>
                        <a:latin typeface="Calibri"/>
                        <a:ea typeface="Malgun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사용 휴가 레이블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남은 휴가 레이블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전체 휴가 조회 테이블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47B578AD-7863-A0C8-4370-6ACB66F0A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009760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나의 휴가정보</a:t>
                      </a:r>
                      <a:endParaRPr lang="ko-KR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A05B8C18-26C5-665E-25F8-BBADF2BAD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723383"/>
              </p:ext>
            </p:extLst>
          </p:nvPr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1A80F0-2F63-1EE8-2F07-2F544B9EA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47" y="682388"/>
            <a:ext cx="8234554" cy="5561464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1D381BE9-0963-9968-DB13-7679D9126662}"/>
              </a:ext>
            </a:extLst>
          </p:cNvPr>
          <p:cNvSpPr/>
          <p:nvPr/>
        </p:nvSpPr>
        <p:spPr>
          <a:xfrm>
            <a:off x="2946687" y="1202861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E5308A41-7A21-C20B-201A-102564D2E6D2}"/>
              </a:ext>
            </a:extLst>
          </p:cNvPr>
          <p:cNvSpPr/>
          <p:nvPr/>
        </p:nvSpPr>
        <p:spPr>
          <a:xfrm>
            <a:off x="3833791" y="1202860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/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24DC220C-4AE9-7791-B8EE-8C19E604D98C}"/>
              </a:ext>
            </a:extLst>
          </p:cNvPr>
          <p:cNvSpPr/>
          <p:nvPr/>
        </p:nvSpPr>
        <p:spPr>
          <a:xfrm>
            <a:off x="5016596" y="1202859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3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7348C173-490B-98E5-E691-3A58A0478C51}"/>
              </a:ext>
            </a:extLst>
          </p:cNvPr>
          <p:cNvSpPr/>
          <p:nvPr/>
        </p:nvSpPr>
        <p:spPr>
          <a:xfrm>
            <a:off x="6176656" y="1202860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4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B776D1CC-AE05-9526-F8BB-57419BEABC9D}"/>
              </a:ext>
            </a:extLst>
          </p:cNvPr>
          <p:cNvSpPr/>
          <p:nvPr/>
        </p:nvSpPr>
        <p:spPr>
          <a:xfrm>
            <a:off x="2605492" y="2294681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5</a:t>
            </a:r>
            <a:endParaRPr lang="ko-KR" dirty="0">
              <a:latin typeface="Malgun Gothic"/>
              <a:ea typeface="Malgun Gothic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E0E0CE2-0580-3BD1-3A68-5A0FABB9E261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27B3BF9-E168-B62C-AD0D-E86A96AAE7C8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152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9BD30-5A04-C95D-145C-65737237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18EBEEB3-CC50-8C28-74A6-DE1157A41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789471"/>
              </p:ext>
            </p:extLst>
          </p:nvPr>
        </p:nvGraphicFramePr>
        <p:xfrm>
          <a:off x="8679180" y="1644797"/>
          <a:ext cx="3414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나의 휴가정보 - 휴가 신청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사원 번호 레이블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남은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휴가일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레이블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휴가 종류 </a:t>
                      </a:r>
                      <a:r>
                        <a:rPr lang="ko-KR" altLang="en-US" dirty="0" err="1">
                          <a:latin typeface="Calibri"/>
                        </a:rPr>
                        <a:t>콤보박스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휴가 시작 날짜 </a:t>
                      </a:r>
                      <a:r>
                        <a:rPr lang="ko-KR" altLang="en-US" dirty="0" err="1">
                          <a:latin typeface="Calibri"/>
                        </a:rPr>
                        <a:t>콤보박스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휴가 기간 </a:t>
                      </a:r>
                      <a:r>
                        <a:rPr lang="ko-KR" altLang="en-US" dirty="0" err="1">
                          <a:latin typeface="Calibri"/>
                        </a:rPr>
                        <a:t>콤보박스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휴가 신청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6163DF24-7125-DB64-3DF3-C386E9910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833403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휴가 신청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13F3F292-31F1-8AAA-09DC-56534AA99C06}"/>
              </a:ext>
            </a:extLst>
          </p:cNvPr>
          <p:cNvGraphicFramePr>
            <a:graphicFrameLocks noGrp="1"/>
          </p:cNvGraphicFramePr>
          <p:nvPr/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70B9B7-0F63-15D1-8457-15DD4ADC2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381" y="1796244"/>
            <a:ext cx="2667000" cy="3333750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B292FA28-D521-125E-C502-202D77747D5B}"/>
              </a:ext>
            </a:extLst>
          </p:cNvPr>
          <p:cNvSpPr/>
          <p:nvPr/>
        </p:nvSpPr>
        <p:spPr>
          <a:xfrm>
            <a:off x="4641284" y="1885249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B4A18AEC-21F0-807E-EAC8-4276775BC4EA}"/>
              </a:ext>
            </a:extLst>
          </p:cNvPr>
          <p:cNvSpPr/>
          <p:nvPr/>
        </p:nvSpPr>
        <p:spPr>
          <a:xfrm>
            <a:off x="4538925" y="2442532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/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C3C9DDE2-2A7A-1918-BEE4-3D40601FC49D}"/>
              </a:ext>
            </a:extLst>
          </p:cNvPr>
          <p:cNvSpPr/>
          <p:nvPr/>
        </p:nvSpPr>
        <p:spPr>
          <a:xfrm>
            <a:off x="3981642" y="3022562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3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61CF8D48-9EC0-DE4C-5E2F-87B94F621827}"/>
              </a:ext>
            </a:extLst>
          </p:cNvPr>
          <p:cNvSpPr/>
          <p:nvPr/>
        </p:nvSpPr>
        <p:spPr>
          <a:xfrm>
            <a:off x="2821582" y="3466114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4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CE1C16A0-4E89-F51A-EE1D-69DEFE746B9E}"/>
              </a:ext>
            </a:extLst>
          </p:cNvPr>
          <p:cNvSpPr/>
          <p:nvPr/>
        </p:nvSpPr>
        <p:spPr>
          <a:xfrm>
            <a:off x="4209104" y="4080263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5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0E91EA03-8A30-3DE5-617F-792C53B2757F}"/>
              </a:ext>
            </a:extLst>
          </p:cNvPr>
          <p:cNvSpPr/>
          <p:nvPr/>
        </p:nvSpPr>
        <p:spPr>
          <a:xfrm>
            <a:off x="3663194" y="4523815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6</a:t>
            </a:r>
            <a:endParaRPr lang="ko-KR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6FCADB8C-9F6F-3657-F820-80B2B4E8BF70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07F3F52-94E6-7829-A88A-1DD0EC64958E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067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1FF97-FFE5-BD17-ECE1-BFA923AC7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29C24A5E-4891-281D-673D-7B40D1D7C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22287"/>
              </p:ext>
            </p:extLst>
          </p:nvPr>
        </p:nvGraphicFramePr>
        <p:xfrm>
          <a:off x="8679180" y="1644797"/>
          <a:ext cx="3414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 - 출/퇴근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출근 버튼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퇴근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2FCB3986-F212-BC7C-02D4-70F27A03E3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457195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출/퇴근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16C0BB4C-67F7-C162-77AA-E176B94AE334}"/>
              </a:ext>
            </a:extLst>
          </p:cNvPr>
          <p:cNvGraphicFramePr>
            <a:graphicFrameLocks noGrp="1"/>
          </p:cNvGraphicFramePr>
          <p:nvPr/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사용자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3" name="그림 2" descr="텍스트, 인간의 얼굴, 스케치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4E71DA-72E4-FF5F-878B-7C110578D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874" y="1185863"/>
            <a:ext cx="3705225" cy="4486275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8F2E7C7D-C120-EEB6-4D49-4AFB702C44B4}"/>
              </a:ext>
            </a:extLst>
          </p:cNvPr>
          <p:cNvSpPr/>
          <p:nvPr/>
        </p:nvSpPr>
        <p:spPr>
          <a:xfrm>
            <a:off x="3705112" y="1253878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4" name="순서도: 연결자 3">
            <a:extLst>
              <a:ext uri="{FF2B5EF4-FFF2-40B4-BE49-F238E27FC236}">
                <a16:creationId xmlns:a16="http://schemas.microsoft.com/office/drawing/2014/main" id="{9B6A0678-5BAD-B4F4-414A-D9E02949601F}"/>
              </a:ext>
            </a:extLst>
          </p:cNvPr>
          <p:cNvSpPr/>
          <p:nvPr/>
        </p:nvSpPr>
        <p:spPr>
          <a:xfrm>
            <a:off x="4292941" y="1253878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>
              <a:latin typeface="Malgun Gothic"/>
              <a:ea typeface="Malgun Gothic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B1B57B0-7CA8-843F-62DD-97C71FC8BA1D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0AF5707-5C75-A97D-8FA3-E0A2A70BC171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127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78C35-D6F6-54DA-72B0-98456FF9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1635E-17FD-2C59-72B8-AE8B05253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010" y="2739357"/>
            <a:ext cx="12200020" cy="1325563"/>
          </a:xfrm>
        </p:spPr>
        <p:txBody>
          <a:bodyPr>
            <a:normAutofit/>
          </a:bodyPr>
          <a:lstStyle/>
          <a:p>
            <a:pPr algn="ctr"/>
            <a:r>
              <a:rPr lang="ko-KR" altLang="en-US" sz="3600" dirty="0">
                <a:latin typeface="Calibri"/>
                <a:ea typeface="맑은 고딕"/>
                <a:cs typeface="Calibri"/>
              </a:rPr>
              <a:t>관리자 화면 UI</a:t>
            </a:r>
          </a:p>
        </p:txBody>
      </p:sp>
      <p:pic>
        <p:nvPicPr>
          <p:cNvPr id="3" name="그래픽 2" descr="도구 단색으로 채워진">
            <a:extLst>
              <a:ext uri="{FF2B5EF4-FFF2-40B4-BE49-F238E27FC236}">
                <a16:creationId xmlns:a16="http://schemas.microsoft.com/office/drawing/2014/main" id="{2F11F55B-B841-C9CE-81CD-3B383843E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1621972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503376-DFDB-9D2A-2661-1ADC718B2D16}"/>
              </a:ext>
            </a:extLst>
          </p:cNvPr>
          <p:cNvSpPr txBox="1"/>
          <p:nvPr/>
        </p:nvSpPr>
        <p:spPr>
          <a:xfrm>
            <a:off x="87086" y="4258937"/>
            <a:ext cx="1200694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2">
                    <a:lumMod val="49000"/>
                  </a:schemeClr>
                </a:solidFill>
                <a:latin typeface="Calibri"/>
                <a:ea typeface="맑은 고딕"/>
                <a:cs typeface="Calibri"/>
              </a:rPr>
              <a:t>관리자인 사원이 수행할 수 있는 기능들이 들어있는 관리자 모드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998249-13AB-A291-112A-9F7AF0946DEF}"/>
              </a:ext>
            </a:extLst>
          </p:cNvPr>
          <p:cNvSpPr/>
          <p:nvPr/>
        </p:nvSpPr>
        <p:spPr>
          <a:xfrm>
            <a:off x="4297" y="3438"/>
            <a:ext cx="12192573" cy="475533"/>
          </a:xfrm>
          <a:prstGeom prst="rect">
            <a:avLst/>
          </a:prstGeom>
          <a:solidFill>
            <a:srgbClr val="E645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EC6FBB-2160-20F2-B480-05C5D156EB15}"/>
              </a:ext>
            </a:extLst>
          </p:cNvPr>
          <p:cNvSpPr/>
          <p:nvPr/>
        </p:nvSpPr>
        <p:spPr>
          <a:xfrm>
            <a:off x="4297" y="6380174"/>
            <a:ext cx="12192573" cy="475533"/>
          </a:xfrm>
          <a:prstGeom prst="rect">
            <a:avLst/>
          </a:prstGeom>
          <a:solidFill>
            <a:srgbClr val="E645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866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ADDEC-17B6-3633-7C79-81193A637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83E55071-304C-75B7-6D6B-229BB9FD8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835313"/>
              </p:ext>
            </p:extLst>
          </p:nvPr>
        </p:nvGraphicFramePr>
        <p:xfrm>
          <a:off x="8679180" y="1644797"/>
          <a:ext cx="3414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관리자 화면 - 홈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홈 버튼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사원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관리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근태 관리 버튼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휴가 관리 버튼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사용자 모드 버튼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903CF2D0-4D24-6B62-26FB-5CAC2B106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115054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홈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234A6FC3-8898-94EB-A573-BC5107BFD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53394"/>
              </p:ext>
            </p:extLst>
          </p:nvPr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관리자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B5D04F-4523-21F0-2D87-A5A1D7969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151" y="642257"/>
            <a:ext cx="6532984" cy="5845629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E830FA25-C91F-2420-4369-65CDE63E1E9B}"/>
              </a:ext>
            </a:extLst>
          </p:cNvPr>
          <p:cNvSpPr/>
          <p:nvPr/>
        </p:nvSpPr>
        <p:spPr>
          <a:xfrm>
            <a:off x="1005456" y="1003506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B44B586D-0118-4B49-99EF-7D63F3B7242C}"/>
              </a:ext>
            </a:extLst>
          </p:cNvPr>
          <p:cNvSpPr/>
          <p:nvPr/>
        </p:nvSpPr>
        <p:spPr>
          <a:xfrm>
            <a:off x="1005456" y="2059420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BFB2CF60-2DEE-CCD8-862E-3335ED242A2E}"/>
              </a:ext>
            </a:extLst>
          </p:cNvPr>
          <p:cNvSpPr/>
          <p:nvPr/>
        </p:nvSpPr>
        <p:spPr>
          <a:xfrm>
            <a:off x="1005455" y="3104448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3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92B0FB15-D546-480F-5D56-E2FDFFF8C1BE}"/>
              </a:ext>
            </a:extLst>
          </p:cNvPr>
          <p:cNvSpPr/>
          <p:nvPr/>
        </p:nvSpPr>
        <p:spPr>
          <a:xfrm>
            <a:off x="1005455" y="4193019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4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866E8E6C-6FFF-74FE-B05D-FB61423FF7A4}"/>
              </a:ext>
            </a:extLst>
          </p:cNvPr>
          <p:cNvSpPr/>
          <p:nvPr/>
        </p:nvSpPr>
        <p:spPr>
          <a:xfrm>
            <a:off x="1005456" y="5281592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5</a:t>
            </a:r>
            <a:endParaRPr lang="ko-KR" dirty="0">
              <a:latin typeface="Malgun Gothic"/>
              <a:ea typeface="Malgun Gothic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ACC17FE-0FD8-B65D-F584-47C6CE143039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A7B3BB6-D624-33FF-BCDC-DD7CE309B98E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754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4D0B4-203F-A9E9-9D95-6134C855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D2D93DB6-439A-05B3-CAA3-5812977F3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624233"/>
              </p:ext>
            </p:extLst>
          </p:nvPr>
        </p:nvGraphicFramePr>
        <p:xfrm>
          <a:off x="8679180" y="1644797"/>
          <a:ext cx="3414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관리자 화면 - 사원 관리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상세 조회 버튼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사원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추가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사원 조회 테이블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사원 정보 조회/수정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B2F23EC4-0CA1-CE01-D751-998E3A91A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300695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사원 관리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BDE6527D-0BDD-84D8-5024-F6B80B03C5BC}"/>
              </a:ext>
            </a:extLst>
          </p:cNvPr>
          <p:cNvGraphicFramePr>
            <a:graphicFrameLocks noGrp="1"/>
          </p:cNvGraphicFramePr>
          <p:nvPr/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관리자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D60B3B-F154-B90F-1E4F-4B15B05B4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625" y="511629"/>
            <a:ext cx="6787150" cy="6139542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3F5AF1DC-84BC-2D05-3165-CD38377A8869}"/>
              </a:ext>
            </a:extLst>
          </p:cNvPr>
          <p:cNvSpPr/>
          <p:nvPr/>
        </p:nvSpPr>
        <p:spPr>
          <a:xfrm>
            <a:off x="5882255" y="818449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9" name="순서도: 연결자 8">
            <a:extLst>
              <a:ext uri="{FF2B5EF4-FFF2-40B4-BE49-F238E27FC236}">
                <a16:creationId xmlns:a16="http://schemas.microsoft.com/office/drawing/2014/main" id="{CF9288D2-EF20-3805-0D5C-4E1E09011A8B}"/>
              </a:ext>
            </a:extLst>
          </p:cNvPr>
          <p:cNvSpPr/>
          <p:nvPr/>
        </p:nvSpPr>
        <p:spPr>
          <a:xfrm>
            <a:off x="6557169" y="818449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10" name="순서도: 연결자 9">
            <a:extLst>
              <a:ext uri="{FF2B5EF4-FFF2-40B4-BE49-F238E27FC236}">
                <a16:creationId xmlns:a16="http://schemas.microsoft.com/office/drawing/2014/main" id="{BCD696F7-7C63-903D-B412-9CA02BCA7255}"/>
              </a:ext>
            </a:extLst>
          </p:cNvPr>
          <p:cNvSpPr/>
          <p:nvPr/>
        </p:nvSpPr>
        <p:spPr>
          <a:xfrm>
            <a:off x="2496797" y="1047048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3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A682EC08-C7B8-46DD-3DC6-CCDFB959C478}"/>
              </a:ext>
            </a:extLst>
          </p:cNvPr>
          <p:cNvSpPr/>
          <p:nvPr/>
        </p:nvSpPr>
        <p:spPr>
          <a:xfrm>
            <a:off x="2823368" y="1939677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4</a:t>
            </a:r>
            <a:endParaRPr lang="ko-KR" dirty="0">
              <a:latin typeface="Malgun Gothic"/>
              <a:ea typeface="Malgun Gothic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C2DC85D-85EF-6355-B1AE-BC28D15703E7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A2A8AB8-64C7-CE73-10C0-4520EEF44097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567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9504-5E06-3D28-9F45-2C10249E9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05A9B21A-C6E7-A813-FF86-3FD660586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783595"/>
              </p:ext>
            </p:extLst>
          </p:nvPr>
        </p:nvGraphicFramePr>
        <p:xfrm>
          <a:off x="8679180" y="1644797"/>
          <a:ext cx="3414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사원 관리 - 사원 상세 조회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검색 조건 </a:t>
                      </a:r>
                      <a:r>
                        <a:rPr lang="ko-KR" altLang="en-US" dirty="0" err="1">
                          <a:latin typeface="Calibri"/>
                        </a:rPr>
                        <a:t>콤보박스</a:t>
                      </a: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검색할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값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텍스트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필드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검색 결과 테이블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검색 버튼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7A32E20F-9F7E-A1C4-908C-F8FF282AD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716192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사원 상세 조회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63238B17-ED64-7BAB-EFE7-40ED73B511B7}"/>
              </a:ext>
            </a:extLst>
          </p:cNvPr>
          <p:cNvGraphicFramePr>
            <a:graphicFrameLocks noGrp="1"/>
          </p:cNvGraphicFramePr>
          <p:nvPr/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관리자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5E49F6-ED9B-0C2B-4CE3-0F1133938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3" y="1151845"/>
            <a:ext cx="7419975" cy="4619625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A59FBFC7-AE10-C6BA-37DA-F80FA9EC7E65}"/>
              </a:ext>
            </a:extLst>
          </p:cNvPr>
          <p:cNvSpPr/>
          <p:nvPr/>
        </p:nvSpPr>
        <p:spPr>
          <a:xfrm>
            <a:off x="4042570" y="1188563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4967199F-52A6-194E-B89C-3D21480824AB}"/>
              </a:ext>
            </a:extLst>
          </p:cNvPr>
          <p:cNvSpPr/>
          <p:nvPr/>
        </p:nvSpPr>
        <p:spPr>
          <a:xfrm>
            <a:off x="3901056" y="1711077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0A61AE5D-6419-B068-7E87-704A23443369}"/>
              </a:ext>
            </a:extLst>
          </p:cNvPr>
          <p:cNvSpPr/>
          <p:nvPr/>
        </p:nvSpPr>
        <p:spPr>
          <a:xfrm>
            <a:off x="297884" y="2244477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3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211F263B-56FB-B70B-40AE-4E96FE39CC2C}"/>
              </a:ext>
            </a:extLst>
          </p:cNvPr>
          <p:cNvSpPr/>
          <p:nvPr/>
        </p:nvSpPr>
        <p:spPr>
          <a:xfrm>
            <a:off x="7689283" y="2168276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4</a:t>
            </a:r>
            <a:endParaRPr lang="ko-KR" dirty="0">
              <a:latin typeface="Malgun Gothic"/>
              <a:ea typeface="Malgun Gothic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7CE590A-74E5-58BD-AC68-5E005CD1E88A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01E4078-6324-07F4-1596-F956AE102949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171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42380-5E41-BDCE-9AB6-9FB736070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0D85F747-927E-42AC-6587-1F596A647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144595"/>
              </p:ext>
            </p:extLst>
          </p:nvPr>
        </p:nvGraphicFramePr>
        <p:xfrm>
          <a:off x="8679180" y="1644797"/>
          <a:ext cx="341447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  <a:latin typeface="Calibri"/>
                        </a:rPr>
                        <a:t>사원 관리 - 사원 추가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추가할 사원 정보 텍스트 필드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사원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추가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7F6B0388-BC91-E014-C4AF-0609DE4B2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935155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사원 추가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AE2F87C5-CC2E-E762-5B01-4F9598012116}"/>
              </a:ext>
            </a:extLst>
          </p:cNvPr>
          <p:cNvGraphicFramePr>
            <a:graphicFrameLocks noGrp="1"/>
          </p:cNvGraphicFramePr>
          <p:nvPr/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관리자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4" name="그림 3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CB9CED-0579-9DDF-C1CE-6B5FE242D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221" y="837520"/>
            <a:ext cx="3619500" cy="5553075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EF4DA161-7A26-3E3C-E712-DC0F903C9CBB}"/>
              </a:ext>
            </a:extLst>
          </p:cNvPr>
          <p:cNvSpPr/>
          <p:nvPr/>
        </p:nvSpPr>
        <p:spPr>
          <a:xfrm>
            <a:off x="2257312" y="611620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8" name="순서도: 연결자 7">
            <a:extLst>
              <a:ext uri="{FF2B5EF4-FFF2-40B4-BE49-F238E27FC236}">
                <a16:creationId xmlns:a16="http://schemas.microsoft.com/office/drawing/2014/main" id="{0971E3AC-A689-81E2-8EB5-0C353C362E28}"/>
              </a:ext>
            </a:extLst>
          </p:cNvPr>
          <p:cNvSpPr/>
          <p:nvPr/>
        </p:nvSpPr>
        <p:spPr>
          <a:xfrm>
            <a:off x="3574484" y="6010934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>
              <a:latin typeface="Malgun Gothic"/>
              <a:ea typeface="Malgun Gothic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6B6442E-B60C-28DE-B3C7-5629DF50EA6D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B1EA432-2CAF-8E4B-A352-F107AE93F031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143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25241-44C4-4E5D-4FB4-651641FDF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D0643227-3C5B-70C5-4931-69B5BE5D8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11808"/>
              </p:ext>
            </p:extLst>
          </p:nvPr>
        </p:nvGraphicFramePr>
        <p:xfrm>
          <a:off x="8679180" y="1644797"/>
          <a:ext cx="3414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관리자 화면 - 근태 관리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연도 </a:t>
                      </a:r>
                      <a:r>
                        <a:rPr lang="ko-KR" altLang="en-US" dirty="0" err="1">
                          <a:latin typeface="Calibri"/>
                        </a:rPr>
                        <a:t>콤보박스</a:t>
                      </a: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월 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콤보박스</a:t>
                      </a:r>
                      <a:endParaRPr lang="en-US" altLang="ko-KR" sz="1800" b="0" i="0" u="none" strike="noStrike" noProof="0" dirty="0" err="1">
                        <a:solidFill>
                          <a:srgbClr val="000000"/>
                        </a:solidFill>
                        <a:latin typeface="Calibri"/>
                        <a:ea typeface="Malgun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근태 조회 버튼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월별 근태 조회 테이블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986383FD-A454-4ECA-78BC-4B3BF658E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400065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근태 관리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F73E6608-2FD4-5DED-BDAF-11D48EB64700}"/>
              </a:ext>
            </a:extLst>
          </p:cNvPr>
          <p:cNvGraphicFramePr>
            <a:graphicFrameLocks noGrp="1"/>
          </p:cNvGraphicFramePr>
          <p:nvPr/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관리자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7A41A3-243C-F3DB-8834-D956AB892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19" y="576943"/>
            <a:ext cx="6756047" cy="6008915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5D9A8586-6420-D714-8B64-FEE157C5F9F4}"/>
              </a:ext>
            </a:extLst>
          </p:cNvPr>
          <p:cNvSpPr/>
          <p:nvPr/>
        </p:nvSpPr>
        <p:spPr>
          <a:xfrm>
            <a:off x="3857512" y="883763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3" name="순서도: 연결자 2">
            <a:extLst>
              <a:ext uri="{FF2B5EF4-FFF2-40B4-BE49-F238E27FC236}">
                <a16:creationId xmlns:a16="http://schemas.microsoft.com/office/drawing/2014/main" id="{50100562-1D8B-E5D9-01A7-D1198FBAF7FF}"/>
              </a:ext>
            </a:extLst>
          </p:cNvPr>
          <p:cNvSpPr/>
          <p:nvPr/>
        </p:nvSpPr>
        <p:spPr>
          <a:xfrm>
            <a:off x="4673940" y="731363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5" name="순서도: 연결자 4">
            <a:extLst>
              <a:ext uri="{FF2B5EF4-FFF2-40B4-BE49-F238E27FC236}">
                <a16:creationId xmlns:a16="http://schemas.microsoft.com/office/drawing/2014/main" id="{9F9B1AC9-74C9-55C6-6812-EB7345F38DCA}"/>
              </a:ext>
            </a:extLst>
          </p:cNvPr>
          <p:cNvSpPr/>
          <p:nvPr/>
        </p:nvSpPr>
        <p:spPr>
          <a:xfrm>
            <a:off x="5414169" y="731362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3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6" name="순서도: 연결자 5">
            <a:extLst>
              <a:ext uri="{FF2B5EF4-FFF2-40B4-BE49-F238E27FC236}">
                <a16:creationId xmlns:a16="http://schemas.microsoft.com/office/drawing/2014/main" id="{62645076-08E0-98B3-B989-FA194E6F2CD2}"/>
              </a:ext>
            </a:extLst>
          </p:cNvPr>
          <p:cNvSpPr/>
          <p:nvPr/>
        </p:nvSpPr>
        <p:spPr>
          <a:xfrm>
            <a:off x="2714511" y="1863476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4</a:t>
            </a:r>
            <a:endParaRPr lang="ko-KR" dirty="0">
              <a:latin typeface="Malgun Gothic"/>
              <a:ea typeface="Malgun Gothic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EA15E95-FB35-3C42-3310-B23BB303D378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59EF92A-4675-49FD-92F2-C088B8700AD5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2927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010BF-1C5D-486B-3F75-2F191AFE7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2E5E1670-2DD4-CA30-CB0F-706BD137C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566684"/>
              </p:ext>
            </p:extLst>
          </p:nvPr>
        </p:nvGraphicFramePr>
        <p:xfrm>
          <a:off x="8679180" y="1644797"/>
          <a:ext cx="3414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관리자 화면 - 휴가 관리</a:t>
                      </a:r>
                      <a:endParaRPr lang="ko-KR" dirty="0"/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승인/반려할 휴가 표시 버튼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승인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/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반려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내역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  <a:ea typeface="Malgun Gothic"/>
                        </a:rPr>
                        <a:t>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휴가 신청 내역 조회 테이블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휴가 승인/반려 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75754872-6E02-3500-BB02-EDE83F9DC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352715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휴가 관리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05A9235B-7BB9-AB92-012F-0E0E6C8481CE}"/>
              </a:ext>
            </a:extLst>
          </p:cNvPr>
          <p:cNvGraphicFramePr>
            <a:graphicFrameLocks noGrp="1"/>
          </p:cNvGraphicFramePr>
          <p:nvPr/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관리자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10" name="그림 9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D7FB83-62BB-328D-4E61-C76610057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367" y="587828"/>
            <a:ext cx="6648780" cy="6019800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FC4025F9-5C7B-3F8C-49A9-896C01E0433D}"/>
              </a:ext>
            </a:extLst>
          </p:cNvPr>
          <p:cNvSpPr/>
          <p:nvPr/>
        </p:nvSpPr>
        <p:spPr>
          <a:xfrm>
            <a:off x="4042569" y="840220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7" name="순서도: 연결자 6">
            <a:extLst>
              <a:ext uri="{FF2B5EF4-FFF2-40B4-BE49-F238E27FC236}">
                <a16:creationId xmlns:a16="http://schemas.microsoft.com/office/drawing/2014/main" id="{CD16C485-9A3A-843A-7093-B4E46BCA4768}"/>
              </a:ext>
            </a:extLst>
          </p:cNvPr>
          <p:cNvSpPr/>
          <p:nvPr/>
        </p:nvSpPr>
        <p:spPr>
          <a:xfrm>
            <a:off x="4946083" y="720477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2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6438E034-AC0E-6F5E-89D0-B34EB4FC07A0}"/>
              </a:ext>
            </a:extLst>
          </p:cNvPr>
          <p:cNvSpPr/>
          <p:nvPr/>
        </p:nvSpPr>
        <p:spPr>
          <a:xfrm>
            <a:off x="3051968" y="2766991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4</a:t>
            </a:r>
            <a:endParaRPr lang="ko-KR" dirty="0">
              <a:latin typeface="Malgun Gothic"/>
              <a:ea typeface="Malgun Gothic"/>
            </a:endParaRPr>
          </a:p>
        </p:txBody>
      </p:sp>
      <p:sp>
        <p:nvSpPr>
          <p:cNvPr id="12" name="순서도: 연결자 11">
            <a:extLst>
              <a:ext uri="{FF2B5EF4-FFF2-40B4-BE49-F238E27FC236}">
                <a16:creationId xmlns:a16="http://schemas.microsoft.com/office/drawing/2014/main" id="{68322890-5162-A279-A63A-651B8F42E98C}"/>
              </a:ext>
            </a:extLst>
          </p:cNvPr>
          <p:cNvSpPr/>
          <p:nvPr/>
        </p:nvSpPr>
        <p:spPr>
          <a:xfrm>
            <a:off x="2496797" y="949076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3</a:t>
            </a:r>
            <a:endParaRPr lang="ko-KR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10CB8A0-4D07-67B9-2C9E-AA6CEF901F60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E90212A-6895-25B3-6017-6888DCE2CB6E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31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217D3-104B-1E82-F4D5-2AC977E72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5" name="표 514">
            <a:extLst>
              <a:ext uri="{FF2B5EF4-FFF2-40B4-BE49-F238E27FC236}">
                <a16:creationId xmlns:a16="http://schemas.microsoft.com/office/drawing/2014/main" id="{691853EE-E4EB-1612-F0C7-CC421B09A9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650349"/>
              </p:ext>
            </p:extLst>
          </p:nvPr>
        </p:nvGraphicFramePr>
        <p:xfrm>
          <a:off x="8679180" y="1644797"/>
          <a:ext cx="341447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925">
                  <a:extLst>
                    <a:ext uri="{9D8B030D-6E8A-4147-A177-3AD203B41FA5}">
                      <a16:colId xmlns:a16="http://schemas.microsoft.com/office/drawing/2014/main" val="3501373248"/>
                    </a:ext>
                  </a:extLst>
                </a:gridCol>
                <a:gridCol w="2959547">
                  <a:extLst>
                    <a:ext uri="{9D8B030D-6E8A-4147-A177-3AD203B41FA5}">
                      <a16:colId xmlns:a16="http://schemas.microsoft.com/office/drawing/2014/main" val="4165464623"/>
                    </a:ext>
                  </a:extLst>
                </a:gridCol>
              </a:tblGrid>
              <a:tr h="28162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  <a:latin typeface="Calibri"/>
                        </a:rPr>
                        <a:t>휴가 관리 - 승인/반려 내역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112511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/>
                        </a:rPr>
                        <a:t>1</a:t>
                      </a:r>
                    </a:p>
                  </a:txBody>
                  <a:tcPr anchor="ctr">
                    <a:lnT w="0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Calibri"/>
                        </a:rPr>
                        <a:t>승인/반려 내역 조회 테이블</a:t>
                      </a:r>
                      <a:endParaRPr lang="ko-KR" altLang="en-US" dirty="0" err="1">
                        <a:latin typeface="Calibri"/>
                      </a:endParaRPr>
                    </a:p>
                  </a:txBody>
                  <a:tcPr>
                    <a:lnT w="0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3831707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800" b="0" i="0" u="none" strike="noStrike" noProof="0" dirty="0" err="1">
                        <a:solidFill>
                          <a:srgbClr val="000000"/>
                        </a:solidFill>
                        <a:latin typeface="Calibri"/>
                        <a:ea typeface="Malgun Gothic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973413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856826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4</a:t>
                      </a:r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8505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93996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807825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133684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153298"/>
                  </a:ext>
                </a:extLst>
              </a:tr>
              <a:tr h="2816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dirty="0">
                          <a:latin typeface="Calibri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ko-KR" alt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772478"/>
                  </a:ext>
                </a:extLst>
              </a:tr>
            </a:tbl>
          </a:graphicData>
        </a:graphic>
      </p:graphicFrame>
      <p:graphicFrame>
        <p:nvGraphicFramePr>
          <p:cNvPr id="516" name="표 515">
            <a:extLst>
              <a:ext uri="{FF2B5EF4-FFF2-40B4-BE49-F238E27FC236}">
                <a16:creationId xmlns:a16="http://schemas.microsoft.com/office/drawing/2014/main" id="{0B02A874-E61E-2965-4EE6-B16749888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155738"/>
              </p:ext>
            </p:extLst>
          </p:nvPr>
        </p:nvGraphicFramePr>
        <p:xfrm>
          <a:off x="-3609" y="481"/>
          <a:ext cx="589403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313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4687720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페이지명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승인/반려 내역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graphicFrame>
        <p:nvGraphicFramePr>
          <p:cNvPr id="517" name="표 516">
            <a:extLst>
              <a:ext uri="{FF2B5EF4-FFF2-40B4-BE49-F238E27FC236}">
                <a16:creationId xmlns:a16="http://schemas.microsoft.com/office/drawing/2014/main" id="{576A7B8B-22C3-4A2D-7090-5D42A858372E}"/>
              </a:ext>
            </a:extLst>
          </p:cNvPr>
          <p:cNvGraphicFramePr>
            <a:graphicFrameLocks noGrp="1"/>
          </p:cNvGraphicFramePr>
          <p:nvPr/>
        </p:nvGraphicFramePr>
        <p:xfrm>
          <a:off x="5865394" y="0"/>
          <a:ext cx="63262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8">
                  <a:extLst>
                    <a:ext uri="{9D8B030D-6E8A-4147-A177-3AD203B41FA5}">
                      <a16:colId xmlns:a16="http://schemas.microsoft.com/office/drawing/2014/main" val="617731966"/>
                    </a:ext>
                  </a:extLst>
                </a:gridCol>
                <a:gridCol w="5031456">
                  <a:extLst>
                    <a:ext uri="{9D8B030D-6E8A-4147-A177-3AD203B41FA5}">
                      <a16:colId xmlns:a16="http://schemas.microsoft.com/office/drawing/2014/main" val="50256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  <a:latin typeface="Calibri"/>
                        </a:rPr>
                        <a:t>그룹명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Calibri"/>
                        </a:rPr>
                        <a:t>관리자 화면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532566"/>
                  </a:ext>
                </a:extLst>
              </a:tr>
            </a:tbl>
          </a:graphicData>
        </a:graphic>
      </p:graphicFrame>
      <p:pic>
        <p:nvPicPr>
          <p:cNvPr id="2" name="그림 1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102C8C-FB0D-CA89-1309-92CCD7FE9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91" y="566057"/>
            <a:ext cx="6660334" cy="5987143"/>
          </a:xfrm>
          <a:prstGeom prst="rect">
            <a:avLst/>
          </a:prstGeom>
        </p:spPr>
      </p:pic>
      <p:sp>
        <p:nvSpPr>
          <p:cNvPr id="506" name="순서도: 연결자 505">
            <a:extLst>
              <a:ext uri="{FF2B5EF4-FFF2-40B4-BE49-F238E27FC236}">
                <a16:creationId xmlns:a16="http://schemas.microsoft.com/office/drawing/2014/main" id="{E1AFB7BC-20F9-B295-16BC-F435471EB9E1}"/>
              </a:ext>
            </a:extLst>
          </p:cNvPr>
          <p:cNvSpPr/>
          <p:nvPr/>
        </p:nvSpPr>
        <p:spPr>
          <a:xfrm>
            <a:off x="2714512" y="2309791"/>
            <a:ext cx="439063" cy="45178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Malgun Gothic"/>
                <a:ea typeface="Malgun Gothic"/>
              </a:rPr>
              <a:t>1</a:t>
            </a:r>
            <a:endParaRPr lang="ko-KR" dirty="0">
              <a:latin typeface="Malgun Gothic"/>
              <a:ea typeface="Malgun Gothic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47DC285-5151-9AE7-7B88-FD37D65CE4DE}"/>
              </a:ext>
            </a:extLst>
          </p:cNvPr>
          <p:cNvCxnSpPr/>
          <p:nvPr/>
        </p:nvCxnSpPr>
        <p:spPr>
          <a:xfrm flipV="1">
            <a:off x="-860" y="332187"/>
            <a:ext cx="12204032" cy="24466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B0C855A-0997-0A08-BB2F-76AF7A1FD2A6}"/>
              </a:ext>
            </a:extLst>
          </p:cNvPr>
          <p:cNvCxnSpPr/>
          <p:nvPr/>
        </p:nvCxnSpPr>
        <p:spPr>
          <a:xfrm>
            <a:off x="8673709" y="344437"/>
            <a:ext cx="12114" cy="6509083"/>
          </a:xfrm>
          <a:prstGeom prst="straightConnector1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305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22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3" baseType="lpstr">
      <vt:lpstr>Office 테마</vt:lpstr>
      <vt:lpstr>PowerPoint 프레젠테이션</vt:lpstr>
      <vt:lpstr>로그인 화면 UI</vt:lpstr>
      <vt:lpstr>PowerPoint 프레젠테이션</vt:lpstr>
      <vt:lpstr>사용자 화면 UI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관리자 화면 UI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795</cp:revision>
  <dcterms:created xsi:type="dcterms:W3CDTF">2025-06-26T01:07:00Z</dcterms:created>
  <dcterms:modified xsi:type="dcterms:W3CDTF">2025-06-27T07:50:00Z</dcterms:modified>
</cp:coreProperties>
</file>