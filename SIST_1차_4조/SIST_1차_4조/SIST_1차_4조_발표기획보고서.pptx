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Anek Bangla Expanded Bold"/>
      <p:bold r:id="rId33"/>
    </p:embeddedFont>
    <p:embeddedFont>
      <p:font typeface="Pretendard ExtraBold"/>
      <p:bold r:id="rId34"/>
    </p:embeddedFont>
    <p:embeddedFont>
      <p:font typeface="Pretendard Black"/>
      <p:bold r:id="rId35"/>
    </p:embeddedFont>
    <p:embeddedFont>
      <p:font typeface="Pretendard SemiBold"/>
      <p:bold r:id="rId36"/>
    </p:embeddedFont>
    <p:embeddedFont>
      <p:font typeface="Pretendard Regular"/>
      <p:regular r:id="rId37"/>
    </p:embeddedFont>
    <p:embeddedFont>
      <p:font typeface="Pretendard Light"/>
      <p:regular r:id="rId38"/>
    </p:embeddedFont>
    <p:embeddedFont>
      <p:font typeface="Anek Bangla Expanded SemiBold"/>
      <p:bold r:id="rId39"/>
    </p:embeddedFont>
    <p:embeddedFont>
      <p:font typeface="Pretendard Bold"/>
      <p:bold r:id="rId40"/>
    </p:embeddedFont>
    <p:embeddedFont>
      <p:font typeface="Pretendard Medium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1.fntdata" Type="http://schemas.openxmlformats.org/officeDocument/2006/relationships/font"/><Relationship Id="rId34" Target="fonts/font2.fntdata" Type="http://schemas.openxmlformats.org/officeDocument/2006/relationships/font"/><Relationship Id="rId35" Target="fonts/font3.fntdata" Type="http://schemas.openxmlformats.org/officeDocument/2006/relationships/font"/><Relationship Id="rId36" Target="fonts/font4.fntdata" Type="http://schemas.openxmlformats.org/officeDocument/2006/relationships/font"/><Relationship Id="rId37" Target="fonts/font5.fntdata" Type="http://schemas.openxmlformats.org/officeDocument/2006/relationships/font"/><Relationship Id="rId38" Target="fonts/font6.fntdata" Type="http://schemas.openxmlformats.org/officeDocument/2006/relationships/font"/><Relationship Id="rId39" Target="fonts/font7.fntdata" Type="http://schemas.openxmlformats.org/officeDocument/2006/relationships/font"/><Relationship Id="rId4" Target="theme/theme1.xml" Type="http://schemas.openxmlformats.org/officeDocument/2006/relationships/theme"/><Relationship Id="rId40" Target="fonts/font8.fntdata" Type="http://schemas.openxmlformats.org/officeDocument/2006/relationships/font"/><Relationship Id="rId41" Target="fonts/font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15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27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25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25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25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25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25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25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4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3.png" Type="http://schemas.openxmlformats.org/officeDocument/2006/relationships/image"/><Relationship Id="rId13" Target="../media/image64.png" Type="http://schemas.openxmlformats.org/officeDocument/2006/relationships/image"/><Relationship Id="rId14" Target="../media/image65.png" Type="http://schemas.openxmlformats.org/officeDocument/2006/relationships/image"/><Relationship Id="rId15" Target="../media/image66.png" Type="http://schemas.openxmlformats.org/officeDocument/2006/relationships/image"/><Relationship Id="rId16" Target="../media/image67.png" Type="http://schemas.openxmlformats.org/officeDocument/2006/relationships/image"/><Relationship Id="rId17" Target="../media/image68.png" Type="http://schemas.openxmlformats.org/officeDocument/2006/relationships/image"/><Relationship Id="rId18" Target="../media/image69.png" Type="http://schemas.openxmlformats.org/officeDocument/2006/relationships/image"/><Relationship Id="rId19" Target="../media/image70.png" Type="http://schemas.openxmlformats.org/officeDocument/2006/relationships/image"/><Relationship Id="rId2" Target="../media/image1.png" Type="http://schemas.openxmlformats.org/officeDocument/2006/relationships/image"/><Relationship Id="rId20" Target="../media/image71.png" Type="http://schemas.openxmlformats.org/officeDocument/2006/relationships/image"/><Relationship Id="rId21" Target="../media/image72.png" Type="http://schemas.openxmlformats.org/officeDocument/2006/relationships/image"/><Relationship Id="rId22" Target="../media/image73.png" Type="http://schemas.openxmlformats.org/officeDocument/2006/relationships/image"/><Relationship Id="rId23" Target="../media/image74.png" Type="http://schemas.openxmlformats.org/officeDocument/2006/relationships/image"/><Relationship Id="rId24" Target="../media/image75.png" Type="http://schemas.openxmlformats.org/officeDocument/2006/relationships/image"/><Relationship Id="rId25" Target="../media/image76.png" Type="http://schemas.openxmlformats.org/officeDocument/2006/relationships/image"/><Relationship Id="rId26" Target="../media/image77.png" Type="http://schemas.openxmlformats.org/officeDocument/2006/relationships/image"/><Relationship Id="rId27" Target="../media/image78.png" Type="http://schemas.openxmlformats.org/officeDocument/2006/relationships/image"/><Relationship Id="rId28" Target="../media/image79.png" Type="http://schemas.openxmlformats.org/officeDocument/2006/relationships/image"/><Relationship Id="rId29" Target="../media/image80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44.png" Type="http://schemas.openxmlformats.org/officeDocument/2006/relationships/image"/><Relationship Id="rId8" Target="../media/image60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44.png" Type="http://schemas.openxmlformats.org/officeDocument/2006/relationships/image"/><Relationship Id="rId8" Target="../media/image8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44.png" Type="http://schemas.openxmlformats.org/officeDocument/2006/relationships/image"/><Relationship Id="rId8" Target="../media/image8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44.png" Type="http://schemas.openxmlformats.org/officeDocument/2006/relationships/image"/><Relationship Id="rId8" Target="../media/image8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44.png" Type="http://schemas.openxmlformats.org/officeDocument/2006/relationships/image"/><Relationship Id="rId8" Target="../media/image8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44.png" Type="http://schemas.openxmlformats.org/officeDocument/2006/relationships/image"/><Relationship Id="rId8" Target="../media/image8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44.png" Type="http://schemas.openxmlformats.org/officeDocument/2006/relationships/image"/><Relationship Id="rId8" Target="../media/image8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44.png" Type="http://schemas.openxmlformats.org/officeDocument/2006/relationships/image"/><Relationship Id="rId8" Target="../media/image8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9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9.png" Type="http://schemas.openxmlformats.org/officeDocument/2006/relationships/image"/><Relationship Id="rId6" Target="../media/image88.png" Type="http://schemas.openxmlformats.org/officeDocument/2006/relationships/image"/><Relationship Id="rId7" Target="../media/image44.png" Type="http://schemas.openxmlformats.org/officeDocument/2006/relationships/image"/><Relationship Id="rId8" Target="../media/image9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9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9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9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7531100"/>
            <a:ext cx="18542000" cy="2997200"/>
          </a:xfrm>
          <a:prstGeom prst="rect">
            <a:avLst/>
          </a:prstGeom>
          <a:effectLst>
            <a:outerShdw dir="5400000" dist="230245" blurRad="0">
              <a:srgbClr val="D8D8D8">
                <a:alpha val="10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38100" y="3479800"/>
            <a:ext cx="3302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57800" y="3479800"/>
            <a:ext cx="3302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7924800"/>
            <a:ext cx="16002000" cy="1295400"/>
          </a:xfrm>
          <a:prstGeom prst="rect">
            <a:avLst/>
          </a:prstGeom>
          <a:effectLst>
            <a:outerShdw dir="5400000" dist="119617" blurRad="0">
              <a:srgbClr val="D8D8D8">
                <a:alpha val="10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1257300"/>
            <a:ext cx="2286000" cy="622300"/>
          </a:xfrm>
          <a:prstGeom prst="rect">
            <a:avLst/>
          </a:prstGeom>
          <a:effectLst>
            <a:outerShdw dir="5400000" dist="71225" blurRad="0">
              <a:srgbClr val="D8D8D8">
                <a:alpha val="100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1397000" y="1384300"/>
            <a:ext cx="17780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-100">
                <a:solidFill>
                  <a:srgbClr val="595959"/>
                </a:solidFill>
                <a:latin typeface="Anek Bangla Expanded Bold"/>
              </a:rPr>
              <a:t>2025.06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89300" y="5092700"/>
            <a:ext cx="117094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6000" b="false" i="false" u="none" strike="noStrike" spc="100">
                <a:solidFill>
                  <a:srgbClr val="000000"/>
                </a:solidFill>
                <a:ea typeface="Pretendard ExtraBold"/>
              </a:rPr>
              <a:t>기획</a:t>
            </a:r>
            <a:r>
              <a:rPr lang="en-US" sz="6000" b="false" i="false" u="none" strike="noStrike" spc="100">
                <a:solidFill>
                  <a:srgbClr val="000000"/>
                </a:solidFill>
                <a:latin typeface="Pretendard ExtraBold"/>
              </a:rPr>
              <a:t> </a:t>
            </a:r>
            <a:r>
              <a:rPr lang="ko-KR" sz="6000" b="false" i="false" u="none" strike="noStrike" spc="100">
                <a:solidFill>
                  <a:srgbClr val="000000"/>
                </a:solidFill>
                <a:ea typeface="Pretendard ExtraBold"/>
              </a:rPr>
              <a:t>보고서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8300" y="8369300"/>
            <a:ext cx="15011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SemiBold"/>
              </a:rPr>
              <a:t>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신준수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      |  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SemiBold"/>
              </a:rPr>
              <a:t>    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 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장영환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        |      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 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성용준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        |         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최종민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        |        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정상준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38800" y="3111500"/>
            <a:ext cx="7061200" cy="166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9400" b="true" i="false" u="none" strike="noStrike">
                <a:solidFill>
                  <a:srgbClr val="000000"/>
                </a:solidFill>
                <a:ea typeface="Pretendard Light"/>
              </a:rPr>
              <a:t>사원</a:t>
            </a:r>
            <a:r>
              <a:rPr lang="en-US" sz="9400" b="tru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9400" b="true" i="false" u="none" strike="noStrike">
                <a:solidFill>
                  <a:srgbClr val="000000"/>
                </a:solidFill>
                <a:ea typeface="Pretendard Light"/>
              </a:rPr>
              <a:t>정보</a:t>
            </a:r>
            <a:r>
              <a:rPr lang="en-US" sz="9400" b="tru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9400" b="true" i="false" u="none" strike="noStrike">
                <a:solidFill>
                  <a:srgbClr val="000000"/>
                </a:solidFill>
                <a:ea typeface="Pretendard Light"/>
              </a:rPr>
              <a:t>관리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2209800"/>
            <a:ext cx="11061700" cy="1117600"/>
          </a:xfrm>
          <a:prstGeom prst="rect">
            <a:avLst/>
          </a:prstGeom>
          <a:effectLst>
            <a:outerShdw dir="5400000" dist="128365" blurRad="0">
              <a:srgbClr val="E6E6E6">
                <a:alpha val="10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3657600"/>
            <a:ext cx="11061700" cy="1117600"/>
          </a:xfrm>
          <a:prstGeom prst="rect">
            <a:avLst/>
          </a:prstGeom>
          <a:effectLst>
            <a:outerShdw dir="5400000" dist="128365" blurRad="0">
              <a:srgbClr val="E6E6E6">
                <a:alpha val="10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5105400"/>
            <a:ext cx="11061700" cy="1117600"/>
          </a:xfrm>
          <a:prstGeom prst="rect">
            <a:avLst/>
          </a:prstGeom>
          <a:effectLst>
            <a:outerShdw dir="5400000" dist="128365" blurRad="0">
              <a:srgbClr val="E6E6E6">
                <a:alpha val="10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6540500"/>
            <a:ext cx="11061700" cy="1117600"/>
          </a:xfrm>
          <a:prstGeom prst="rect">
            <a:avLst/>
          </a:prstGeom>
          <a:effectLst>
            <a:outerShdw dir="5400000" dist="128365" blurRad="0">
              <a:srgbClr val="E6E6E6">
                <a:alpha val="10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76900" y="7988300"/>
            <a:ext cx="11061700" cy="1117600"/>
          </a:xfrm>
          <a:prstGeom prst="rect">
            <a:avLst/>
          </a:prstGeom>
          <a:effectLst>
            <a:outerShdw dir="5400000" dist="128365" blurRad="0">
              <a:srgbClr val="E6E6E6">
                <a:alpha val="10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62100" y="18034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72300" y="7772400"/>
            <a:ext cx="2679700" cy="2374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21300" y="7696200"/>
            <a:ext cx="2489200" cy="2082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8600" y="1905000"/>
            <a:ext cx="31623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 spc="100">
                <a:solidFill>
                  <a:srgbClr val="000000"/>
                </a:solidFill>
                <a:ea typeface="Pretendard ExtraBold"/>
              </a:rPr>
              <a:t>목차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3400" y="1625600"/>
            <a:ext cx="30988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700" b="false" i="false" u="none" strike="noStrike">
                <a:solidFill>
                  <a:srgbClr val="A0A0A0"/>
                </a:solidFill>
                <a:latin typeface="Anek Bangla Expanded Bold"/>
              </a:rPr>
              <a:t>INDEX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2019300"/>
            <a:ext cx="6248400" cy="2844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57800" y="1917700"/>
            <a:ext cx="2540000" cy="2082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985000" y="3467100"/>
            <a:ext cx="3949700" cy="2362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308600" y="3365500"/>
            <a:ext cx="2501900" cy="2082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985000" y="4902200"/>
            <a:ext cx="9144000" cy="2362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321300" y="4813300"/>
            <a:ext cx="2501900" cy="2082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985000" y="6350000"/>
            <a:ext cx="7416800" cy="2362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334000" y="6248400"/>
            <a:ext cx="25019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4185900" y="4495800"/>
            <a:ext cx="37592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3296900" y="4495800"/>
            <a:ext cx="3759200" cy="177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" y="7759700"/>
            <a:ext cx="16002000" cy="1549400"/>
          </a:xfrm>
          <a:prstGeom prst="rect">
            <a:avLst/>
          </a:prstGeom>
          <a:effectLst>
            <a:outerShdw dir="5400000" dist="142585" blurRad="0">
              <a:srgbClr val="D8D8D8">
                <a:alpha val="100000"/>
              </a:srgbClr>
            </a:outerShdw>
          </a:effectLst>
        </p:spPr>
      </p:pic>
      <p:sp>
        <p:nvSpPr>
          <p:cNvPr name="TextBox 7" id="7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600200" y="279400"/>
            <a:ext cx="13246100" cy="14122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320800" y="5969000"/>
            <a:ext cx="116586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8000" b="false" i="false" u="none" strike="noStrike" spc="100">
                <a:solidFill>
                  <a:srgbClr val="000000"/>
                </a:solidFill>
                <a:latin typeface="Pretendard ExtraBold"/>
              </a:rPr>
              <a:t> </a:t>
            </a:r>
            <a:r>
              <a:rPr lang="ko-KR" sz="8000" b="false" i="false" u="none" strike="noStrike" spc="100">
                <a:solidFill>
                  <a:srgbClr val="000000"/>
                </a:solidFill>
                <a:ea typeface="Pretendard ExtraBold"/>
              </a:rPr>
              <a:t>개요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1000" y="8077200"/>
            <a:ext cx="10045700" cy="812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프로그램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요청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사항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소개</a:t>
            </a:r>
          </a:p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팀원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소개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05900" y="5664200"/>
            <a:ext cx="977900" cy="965200"/>
          </a:xfrm>
          <a:prstGeom prst="rect">
            <a:avLst/>
          </a:prstGeom>
          <a:effectLst>
            <a:outerShdw dir="2700000" dist="88988" blurRad="9256">
              <a:srgbClr val="000000">
                <a:alpha val="50000"/>
              </a:srgbClr>
            </a:outerShdw>
          </a:effectLst>
        </p:spPr>
      </p:pic>
      <p:sp>
        <p:nvSpPr>
          <p:cNvPr name="TextBox 6" id="6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프로그램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요청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사항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9300" y="1244600"/>
            <a:ext cx="2781300" cy="25908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87600" y="3822700"/>
            <a:ext cx="6007100" cy="4648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730500" y="4127500"/>
            <a:ext cx="5372100" cy="416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관리자인증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구현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권한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기반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사원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정보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관리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구현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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부서별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문서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관리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및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공유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구현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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입퇴사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관리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구현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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사원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인증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구현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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근태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입력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및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월별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근태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상황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조회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구현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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문서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저장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구현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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업무일지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작성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관리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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요구사항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분석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및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구축을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위한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세부전략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수립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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•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인터페이스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연계시스템</a:t>
            </a:r>
            <a:r>
              <a:rPr lang="en-US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SemiBold"/>
              </a:rPr>
              <a:t>개발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07700" y="5105400"/>
            <a:ext cx="4406900" cy="2578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061700" y="5334000"/>
            <a:ext cx="39624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휴가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신청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     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총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휴가수와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남은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휴가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수로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     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반차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연차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신청</a:t>
            </a:r>
          </a:p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/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휴가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승인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  <a:p>
            <a:pPr algn="l" lvl="1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SemiBold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7700" y="4508500"/>
            <a:ext cx="4191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lack"/>
              </a:rPr>
              <a:t>추가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Black"/>
              </a:rPr>
              <a:t>수행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Black"/>
              </a:rPr>
              <a:t>내용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9300" y="1244600"/>
            <a:ext cx="2781300" cy="2590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팀원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소개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" y="4305300"/>
            <a:ext cx="2717800" cy="4279900"/>
          </a:xfrm>
          <a:prstGeom prst="rect">
            <a:avLst/>
          </a:prstGeom>
          <a:effectLst>
            <a:outerShdw dir="5400000" dist="104492" blurRad="0">
              <a:srgbClr val="E6E6E6">
                <a:alpha val="10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1574800" y="6769100"/>
            <a:ext cx="18669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200" b="true" i="false" u="none" strike="noStrike">
                <a:solidFill>
                  <a:srgbClr val="000000"/>
                </a:solidFill>
                <a:ea typeface="Pretendard SemiBold"/>
              </a:rPr>
              <a:t>팀장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6200" y="7188200"/>
            <a:ext cx="23241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db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수정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관리자모드에서의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휴가조회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휴가신청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컨펌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48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000" b="false" i="false" u="none" strike="noStrike" spc="100">
                <a:solidFill>
                  <a:srgbClr val="FFFFFF"/>
                </a:solidFill>
                <a:ea typeface="Pretendard Black"/>
              </a:rPr>
              <a:t>신준수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27200" y="4305300"/>
            <a:ext cx="2717800" cy="4279900"/>
          </a:xfrm>
          <a:prstGeom prst="rect">
            <a:avLst/>
          </a:prstGeom>
          <a:effectLst>
            <a:outerShdw dir="5400000" dist="104492" blurRad="0">
              <a:srgbClr val="E6E6E6">
                <a:alpha val="100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14744700" y="6807200"/>
            <a:ext cx="2082800" cy="176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부서별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작성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저장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공유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부서별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공유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테이블</a:t>
            </a:r>
          </a:p>
          <a:p>
            <a:pPr algn="ctr" lvl="0">
              <a:lnSpc>
                <a:spcPct val="116199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UI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구상</a:t>
            </a:r>
          </a:p>
          <a:p>
            <a:pPr algn="ctr" lvl="0">
              <a:lnSpc>
                <a:spcPct val="116199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90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000" b="false" i="false" u="none" strike="noStrike" spc="100">
                <a:solidFill>
                  <a:srgbClr val="FFFFFF"/>
                </a:solidFill>
                <a:ea typeface="Pretendard Black"/>
              </a:rPr>
              <a:t>정상준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112500" y="4305300"/>
            <a:ext cx="2717800" cy="4279900"/>
          </a:xfrm>
          <a:prstGeom prst="rect">
            <a:avLst/>
          </a:prstGeom>
          <a:effectLst>
            <a:outerShdw dir="5400000" dist="104492" blurRad="0">
              <a:srgbClr val="E6E6E6">
                <a:alpha val="100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11430000" y="6769100"/>
            <a:ext cx="20828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UI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모드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사원정보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검색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관리자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모드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휴가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승인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443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000" b="false" i="false" u="none" strike="noStrike" spc="100">
                <a:solidFill>
                  <a:srgbClr val="FFFFFF"/>
                </a:solidFill>
                <a:ea typeface="Pretendard Black"/>
              </a:rPr>
              <a:t>최종민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785100" y="4305300"/>
            <a:ext cx="2717800" cy="4279900"/>
          </a:xfrm>
          <a:prstGeom prst="rect">
            <a:avLst/>
          </a:prstGeom>
          <a:effectLst>
            <a:outerShdw dir="5400000" dist="104492" blurRad="0">
              <a:srgbClr val="E6E6E6">
                <a:alpha val="100000"/>
              </a:srgbClr>
            </a:outerShdw>
          </a:effectLst>
        </p:spPr>
      </p:pic>
      <p:sp>
        <p:nvSpPr>
          <p:cNvPr name="TextBox 18" id="18"/>
          <p:cNvSpPr txBox="true"/>
          <p:nvPr/>
        </p:nvSpPr>
        <p:spPr>
          <a:xfrm rot="0">
            <a:off x="8166100" y="6769100"/>
            <a:ext cx="1968500" cy="1473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DB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테이블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생성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관리자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모드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사원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수정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사원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추가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169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000" b="false" i="false" u="none" strike="noStrike" spc="100">
                <a:solidFill>
                  <a:srgbClr val="FFFFFF"/>
                </a:solidFill>
                <a:ea typeface="Pretendard Black"/>
              </a:rPr>
              <a:t>성용준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470400" y="4305300"/>
            <a:ext cx="2717800" cy="4279900"/>
          </a:xfrm>
          <a:prstGeom prst="rect">
            <a:avLst/>
          </a:prstGeom>
          <a:effectLst>
            <a:outerShdw dir="5400000" dist="104492" blurRad="0">
              <a:srgbClr val="E6E6E6">
                <a:alpha val="100000"/>
              </a:srgbClr>
            </a:outerShdw>
          </a:effectLst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65300" y="4978400"/>
            <a:ext cx="1473200" cy="1473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92700" y="4978400"/>
            <a:ext cx="1473200" cy="1473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049500" y="4978400"/>
            <a:ext cx="1473200" cy="1473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07400" y="4978400"/>
            <a:ext cx="1473200" cy="1473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734800" y="4978400"/>
            <a:ext cx="1473200" cy="1473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41600" y="6565900"/>
            <a:ext cx="457200" cy="4572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4775200" y="6769100"/>
            <a:ext cx="20828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근태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테이블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휴가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로직구현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사원휴가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조회테이블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출퇴근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로직</a:t>
            </a:r>
            <a:r>
              <a:rPr lang="en-US" sz="17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022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000" b="false" i="false" u="none" strike="noStrike" spc="100">
                <a:solidFill>
                  <a:srgbClr val="FFFFFF"/>
                </a:solidFill>
                <a:ea typeface="Pretendard Black"/>
              </a:rPr>
              <a:t>장영환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4185900" y="4495800"/>
            <a:ext cx="37592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3296900" y="4495800"/>
            <a:ext cx="3759200" cy="177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" y="7759700"/>
            <a:ext cx="16002000" cy="1549400"/>
          </a:xfrm>
          <a:prstGeom prst="rect">
            <a:avLst/>
          </a:prstGeom>
          <a:effectLst>
            <a:outerShdw dir="5400000" dist="142585" blurRad="0">
              <a:srgbClr val="D8D8D8">
                <a:alpha val="10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600200" y="279400"/>
            <a:ext cx="13741400" cy="14122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20800" y="5969000"/>
            <a:ext cx="116586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 spc="100">
                <a:solidFill>
                  <a:srgbClr val="000000"/>
                </a:solidFill>
                <a:ea typeface="Pretendard ExtraBold"/>
              </a:rPr>
              <a:t>기획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0200" y="8293100"/>
            <a:ext cx="10045700" cy="393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SemiBold"/>
              </a:rPr>
              <a:t>계획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SemiBold"/>
              </a:rPr>
              <a:t>수립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0">
            <a:off x="5715000" y="5537200"/>
            <a:ext cx="6870700" cy="2717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841500" y="1981200"/>
            <a:ext cx="146050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이곳에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제목을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입력해주세요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0">
            <a:off x="7099300" y="6578600"/>
            <a:ext cx="4076700" cy="176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150100" y="7073900"/>
            <a:ext cx="39878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사원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Extra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정보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Extra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관리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95900" y="7277100"/>
            <a:ext cx="1066800" cy="1066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77000" y="5626100"/>
            <a:ext cx="1066800" cy="1066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97900" y="5003800"/>
            <a:ext cx="1066800" cy="106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99900" y="7277100"/>
            <a:ext cx="1066800" cy="1066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18800" y="5626100"/>
            <a:ext cx="1066800" cy="1066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057400" y="6985000"/>
            <a:ext cx="32766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사원</a:t>
            </a:r>
            <a:r>
              <a:rPr lang="en-US" sz="26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관리</a:t>
            </a:r>
            <a:r>
              <a:rPr lang="en-US" sz="26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구현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70100" y="7607300"/>
            <a:ext cx="3251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직급별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권한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부여</a:t>
            </a:r>
          </a:p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부서별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63900" y="4927600"/>
            <a:ext cx="32766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입ㆍ퇴사</a:t>
            </a:r>
            <a:r>
              <a:rPr lang="en-US" sz="26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분류</a:t>
            </a:r>
            <a:r>
              <a:rPr lang="en-US" sz="26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76600" y="5549900"/>
            <a:ext cx="3251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관리자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</a:p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퇴사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사원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정보변경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불가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34800" y="4787900"/>
            <a:ext cx="32766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문서</a:t>
            </a:r>
            <a:r>
              <a:rPr lang="en-US" sz="26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저장</a:t>
            </a:r>
            <a:r>
              <a:rPr lang="en-US" sz="26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열람</a:t>
            </a:r>
            <a:r>
              <a:rPr lang="en-US" sz="26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공유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47500" y="5410200"/>
            <a:ext cx="32512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저장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DB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저장</a:t>
            </a:r>
          </a:p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부서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별로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열람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범위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설정</a:t>
            </a:r>
          </a:p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공유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받은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열람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05700" y="3556000"/>
            <a:ext cx="32766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근태</a:t>
            </a:r>
            <a:r>
              <a:rPr lang="en-US" sz="26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휴가</a:t>
            </a:r>
            <a:r>
              <a:rPr lang="en-US" sz="26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관리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18400" y="4089400"/>
            <a:ext cx="32512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출근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퇴근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휴가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</a:p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남은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휴가에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따라</a:t>
            </a:r>
          </a:p>
          <a:p>
            <a:pPr algn="ctr" lvl="0">
              <a:lnSpc>
                <a:spcPct val="132800"/>
              </a:lnSpc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반차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연차에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따른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휴가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79400" y="6985000"/>
            <a:ext cx="32766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000000"/>
                </a:solidFill>
                <a:ea typeface="Pretendard Bold"/>
              </a:rPr>
              <a:t>관리자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92100" y="7607300"/>
            <a:ext cx="3251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로그인을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구분</a:t>
            </a:r>
          </a:p>
          <a:p>
            <a:pPr algn="ctr" lvl="0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사원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추가등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권한</a:t>
            </a: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000000"/>
                </a:solidFill>
                <a:ea typeface="Pretendard Regular"/>
              </a:rPr>
              <a:t>부여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9400" y="7607300"/>
            <a:ext cx="9271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FFFFFF"/>
                </a:solidFill>
                <a:ea typeface="Pretendard Bold"/>
              </a:rPr>
              <a:t>사원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53200" y="5943600"/>
            <a:ext cx="9271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FFFFFF"/>
                </a:solidFill>
                <a:ea typeface="Pretendard Bold"/>
              </a:rPr>
              <a:t>입퇴사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74100" y="5321300"/>
            <a:ext cx="9271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FFFFFF"/>
                </a:solidFill>
                <a:ea typeface="Pretendard Bold"/>
              </a:rPr>
              <a:t>근태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95000" y="5943600"/>
            <a:ext cx="927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FFFFFF"/>
                </a:solidFill>
                <a:ea typeface="Pretendard Bold"/>
              </a:rPr>
              <a:t>문서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76100" y="7594600"/>
            <a:ext cx="9271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FFFFFF"/>
                </a:solidFill>
                <a:ea typeface="Pretendard Bold"/>
              </a:rPr>
              <a:t>관리자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29" id="29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계획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수립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2800" y="1244600"/>
            <a:ext cx="2730500" cy="25908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87600" y="3517900"/>
            <a:ext cx="13982700" cy="5537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72200" y="38100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925300" y="38100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5473700"/>
            <a:ext cx="5854700" cy="3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6654800"/>
            <a:ext cx="58547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7823200"/>
            <a:ext cx="58547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4737100"/>
            <a:ext cx="317500" cy="27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5930900"/>
            <a:ext cx="317500" cy="279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7112000"/>
            <a:ext cx="317500" cy="27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8305800"/>
            <a:ext cx="317500" cy="279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324600" y="36195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Medium"/>
              </a:rPr>
              <a:t>사원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10400" y="4508500"/>
            <a:ext cx="48006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번호를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부여해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팀장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대리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 </a:t>
            </a:r>
          </a:p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사원으로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직급을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나눠짐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10400" y="5702300"/>
            <a:ext cx="48006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테이블의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바탕으로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다른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0400" y="7048500"/>
            <a:ext cx="4800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로그인한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사원의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자신의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수정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41500" y="1981200"/>
            <a:ext cx="146050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이곳에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제목을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입력해주세요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21" id="21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계획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수립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2800" y="1244600"/>
            <a:ext cx="2730500" cy="25908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7010400" y="8064500"/>
            <a:ext cx="49784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부여된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번호에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따라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권한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부여</a:t>
            </a:r>
          </a:p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: 3,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인사부팀장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: 3,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팀장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: 2,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대리ㆍ사원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: 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87600" y="3517900"/>
            <a:ext cx="13982700" cy="5537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72200" y="38100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925300" y="38100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5473700"/>
            <a:ext cx="5854700" cy="3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6654800"/>
            <a:ext cx="58547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7823200"/>
            <a:ext cx="58547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4737100"/>
            <a:ext cx="317500" cy="27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5930900"/>
            <a:ext cx="317500" cy="279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7112000"/>
            <a:ext cx="317500" cy="27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8305800"/>
            <a:ext cx="317500" cy="279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010400" y="8229600"/>
            <a:ext cx="4800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퇴사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불가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24600" y="36195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Medium"/>
              </a:rPr>
              <a:t>입ㆍ퇴사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Medium"/>
              </a:rPr>
              <a:t>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10400" y="4673600"/>
            <a:ext cx="4800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테이블에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입사일과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함께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0400" y="5702300"/>
            <a:ext cx="48006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관리자를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아이디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등의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DB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10400" y="7048500"/>
            <a:ext cx="4800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관리자를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재직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퇴사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변경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1500" y="1981200"/>
            <a:ext cx="146050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이곳에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제목을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입력해주세요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22" id="22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계획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수립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2800" y="1244600"/>
            <a:ext cx="27305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87600" y="3517900"/>
            <a:ext cx="13982700" cy="5537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72200" y="38100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925300" y="38100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5473700"/>
            <a:ext cx="5854700" cy="3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6654800"/>
            <a:ext cx="58547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7823200"/>
            <a:ext cx="58547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4737100"/>
            <a:ext cx="317500" cy="27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5930900"/>
            <a:ext cx="317500" cy="279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7112000"/>
            <a:ext cx="317500" cy="27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8305800"/>
            <a:ext cx="317500" cy="279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010400" y="8064500"/>
            <a:ext cx="48006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총휴가와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남은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휴가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값으로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휴가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연도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별로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휴가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사용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내용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DB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저장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열람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24600" y="36195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Medium"/>
              </a:rPr>
              <a:t>근태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10400" y="4508500"/>
            <a:ext cx="48006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입력을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출근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퇴근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관리</a:t>
            </a:r>
          </a:p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시간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입력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0400" y="5702300"/>
            <a:ext cx="48006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DB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근태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테이블에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출근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퇴근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휴가등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10400" y="7048500"/>
            <a:ext cx="4800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휴가를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연차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반차로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구분하여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입력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1500" y="1981200"/>
            <a:ext cx="146050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이곳에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제목을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입력해주세요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22" id="22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계획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수립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2800" y="1244600"/>
            <a:ext cx="27305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87600" y="3517900"/>
            <a:ext cx="13982700" cy="5537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72200" y="38100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925300" y="38100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5473700"/>
            <a:ext cx="5854700" cy="3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6654800"/>
            <a:ext cx="58547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7823200"/>
            <a:ext cx="58547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4737100"/>
            <a:ext cx="317500" cy="27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5930900"/>
            <a:ext cx="317500" cy="279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7112000"/>
            <a:ext cx="317500" cy="27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8305800"/>
            <a:ext cx="317500" cy="279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010400" y="8064500"/>
            <a:ext cx="48006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공유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테이블을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부서에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공유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받은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24600" y="36195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Medium"/>
              </a:rPr>
              <a:t>문서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10400" y="4483100"/>
            <a:ext cx="40767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로그인한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사원의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부서별로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문서를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DB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0400" y="5702300"/>
            <a:ext cx="48006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부서별로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권한을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나눠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테이블을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10400" y="6883400"/>
            <a:ext cx="48006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테이블을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문서를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다른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부서에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공유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공유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테이블에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1500" y="1981200"/>
            <a:ext cx="146050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이곳에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제목을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입력해주세요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22" id="22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계획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수립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2800" y="1244600"/>
            <a:ext cx="27305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87600" y="3517900"/>
            <a:ext cx="13982700" cy="5537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72200" y="38100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925300" y="38100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5473700"/>
            <a:ext cx="5854700" cy="3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6654800"/>
            <a:ext cx="58547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0" y="7823200"/>
            <a:ext cx="58547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4737100"/>
            <a:ext cx="317500" cy="27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5930900"/>
            <a:ext cx="317500" cy="279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7112000"/>
            <a:ext cx="317500" cy="27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62700" y="8305800"/>
            <a:ext cx="317500" cy="279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010400" y="8229600"/>
            <a:ext cx="4800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휴가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승인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근태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휴가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조회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24600" y="36195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Medium"/>
              </a:rPr>
              <a:t>관리자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10400" y="4673600"/>
            <a:ext cx="4800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로그인을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일반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사원과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관리자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계정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구분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0400" y="5867400"/>
            <a:ext cx="4800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관리자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모드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버튼을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관리자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모드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진입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10400" y="7048500"/>
            <a:ext cx="4800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사원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권한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Regular"/>
              </a:rPr>
              <a:t>부여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1500" y="1981200"/>
            <a:ext cx="146050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이곳에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제목을</a:t>
            </a:r>
            <a:r>
              <a:rPr lang="en-US" sz="6000" b="false" i="false" u="none" strike="noStrike">
                <a:solidFill>
                  <a:srgbClr val="000000"/>
                </a:solidFill>
                <a:latin typeface="Anek Bangla Expanded SemiBold"/>
              </a:rPr>
              <a:t> </a:t>
            </a:r>
            <a:r>
              <a:rPr lang="ko-KR" sz="6000" b="false" i="false" u="none" strike="noStrike">
                <a:solidFill>
                  <a:srgbClr val="000000"/>
                </a:solidFill>
                <a:ea typeface="Anek Bangla Expanded SemiBold"/>
              </a:rPr>
              <a:t>입력해주세요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22" id="22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계획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수립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2800" y="1244600"/>
            <a:ext cx="27305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4185900" y="4495800"/>
            <a:ext cx="37592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3296900" y="4495800"/>
            <a:ext cx="3759200" cy="177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" y="7759700"/>
            <a:ext cx="16002000" cy="1549400"/>
          </a:xfrm>
          <a:prstGeom prst="rect">
            <a:avLst/>
          </a:prstGeom>
          <a:effectLst>
            <a:outerShdw dir="5400000" dist="142585" blurRad="0">
              <a:srgbClr val="D8D8D8">
                <a:alpha val="10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600200" y="279400"/>
            <a:ext cx="13792200" cy="14122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20800" y="5969000"/>
            <a:ext cx="116586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 spc="100">
                <a:solidFill>
                  <a:srgbClr val="000000"/>
                </a:solidFill>
                <a:ea typeface="Pretendard ExtraBold"/>
              </a:rPr>
              <a:t>기술</a:t>
            </a:r>
            <a:r>
              <a:rPr lang="en-US" sz="8000" b="false" i="false" u="none" strike="noStrike" spc="100">
                <a:solidFill>
                  <a:srgbClr val="000000"/>
                </a:solidFill>
                <a:latin typeface="Pretendard ExtraBold"/>
              </a:rPr>
              <a:t> </a:t>
            </a:r>
            <a:r>
              <a:rPr lang="ko-KR" sz="8000" b="false" i="false" u="none" strike="noStrike" spc="100">
                <a:solidFill>
                  <a:srgbClr val="000000"/>
                </a:solidFill>
                <a:ea typeface="Pretendard ExtraBold"/>
              </a:rPr>
              <a:t>소개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1000" y="8293100"/>
            <a:ext cx="10045700" cy="393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사용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프로그램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SemiBold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아키텍쳐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SemiBold"/>
              </a:rPr>
              <a:t>, DB, Class, Use Case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25500" y="1244600"/>
            <a:ext cx="2717800" cy="2590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사용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5000" b="false" i="false" u="none" strike="noStrike">
                <a:solidFill>
                  <a:srgbClr val="000000"/>
                </a:solidFill>
                <a:ea typeface="Pretendard Black"/>
              </a:rPr>
              <a:t>프로그램</a:t>
            </a:r>
          </a:p>
        </p:txBody>
      </p:sp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1100" y="4305300"/>
            <a:ext cx="1905000" cy="4381500"/>
          </a:xfrm>
          <a:prstGeom prst="rect">
            <a:avLst/>
          </a:prstGeom>
          <a:effectLst>
            <a:outerShdw dir="5400000" dist="73269" blurRad="0">
              <a:srgbClr val="E6E6E6">
                <a:alpha val="100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12065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100">
                <a:solidFill>
                  <a:srgbClr val="FFFFFF"/>
                </a:solidFill>
                <a:latin typeface="Pretendard Black"/>
              </a:rPr>
              <a:t>Java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97000" y="5753100"/>
            <a:ext cx="1473200" cy="1473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1800" y="6083300"/>
            <a:ext cx="8255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87800" y="4305300"/>
            <a:ext cx="1905000" cy="4381500"/>
          </a:xfrm>
          <a:prstGeom prst="rect">
            <a:avLst/>
          </a:prstGeom>
          <a:effectLst>
            <a:outerShdw dir="5400000" dist="73269" blurRad="0">
              <a:srgbClr val="E6E6E6">
                <a:alpha val="100000"/>
              </a:srgbClr>
            </a:outerShdw>
          </a:effectLst>
        </p:spPr>
      </p:pic>
      <p:sp>
        <p:nvSpPr>
          <p:cNvPr name="TextBox 13" id="13"/>
          <p:cNvSpPr txBox="true"/>
          <p:nvPr/>
        </p:nvSpPr>
        <p:spPr>
          <a:xfrm rot="0">
            <a:off x="40259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100">
                <a:solidFill>
                  <a:srgbClr val="FFFFFF"/>
                </a:solidFill>
                <a:latin typeface="Pretendard Black"/>
              </a:rPr>
              <a:t>Eclips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03700" y="5753100"/>
            <a:ext cx="14732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613900" y="4305300"/>
            <a:ext cx="1905000" cy="4381500"/>
          </a:xfrm>
          <a:prstGeom prst="rect">
            <a:avLst/>
          </a:prstGeom>
          <a:effectLst>
            <a:outerShdw dir="5400000" dist="73269" blurRad="0">
              <a:srgbClr val="E6E6E6">
                <a:alpha val="100000"/>
              </a:srgbClr>
            </a:outerShdw>
          </a:effectLst>
        </p:spPr>
      </p:pic>
      <p:sp>
        <p:nvSpPr>
          <p:cNvPr name="TextBox 16" id="16"/>
          <p:cNvSpPr txBox="true"/>
          <p:nvPr/>
        </p:nvSpPr>
        <p:spPr>
          <a:xfrm rot="0">
            <a:off x="96393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true" i="false" u="none" strike="noStrike" spc="100">
                <a:solidFill>
                  <a:srgbClr val="FFFFFF"/>
                </a:solidFill>
                <a:latin typeface="Pretendard Black"/>
              </a:rPr>
              <a:t>NetBeans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829800" y="5753100"/>
            <a:ext cx="1473200" cy="1473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807200" y="4305300"/>
            <a:ext cx="1905000" cy="4381500"/>
          </a:xfrm>
          <a:prstGeom prst="rect">
            <a:avLst/>
          </a:prstGeom>
          <a:effectLst>
            <a:outerShdw dir="5400000" dist="73269" blurRad="0">
              <a:srgbClr val="E6E6E6">
                <a:alpha val="100000"/>
              </a:srgbClr>
            </a:outerShdw>
          </a:effectLst>
        </p:spPr>
      </p:pic>
      <p:sp>
        <p:nvSpPr>
          <p:cNvPr name="TextBox 19" id="19"/>
          <p:cNvSpPr txBox="true"/>
          <p:nvPr/>
        </p:nvSpPr>
        <p:spPr>
          <a:xfrm rot="0">
            <a:off x="68326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100">
                <a:solidFill>
                  <a:srgbClr val="FFFFFF"/>
                </a:solidFill>
                <a:latin typeface="Pretendard Black"/>
              </a:rPr>
              <a:t>IntelliJ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23100" y="5753100"/>
            <a:ext cx="1473200" cy="1473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33300" y="4305300"/>
            <a:ext cx="1905000" cy="4381500"/>
          </a:xfrm>
          <a:prstGeom prst="rect">
            <a:avLst/>
          </a:prstGeom>
          <a:effectLst>
            <a:outerShdw dir="5400000" dist="73269" blurRad="0">
              <a:srgbClr val="E6E6E6">
                <a:alpha val="100000"/>
              </a:srgbClr>
            </a:outerShdw>
          </a:effectLst>
        </p:spPr>
      </p:pic>
      <p:sp>
        <p:nvSpPr>
          <p:cNvPr name="TextBox 22" id="22"/>
          <p:cNvSpPr txBox="true"/>
          <p:nvPr/>
        </p:nvSpPr>
        <p:spPr>
          <a:xfrm rot="0">
            <a:off x="124587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100">
                <a:solidFill>
                  <a:srgbClr val="FFFFFF"/>
                </a:solidFill>
                <a:latin typeface="Pretendard Black"/>
              </a:rPr>
              <a:t>MyBatis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649200" y="5753100"/>
            <a:ext cx="1473200" cy="1473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00" y="4305300"/>
            <a:ext cx="1905000" cy="4381500"/>
          </a:xfrm>
          <a:prstGeom prst="rect">
            <a:avLst/>
          </a:prstGeom>
          <a:effectLst>
            <a:outerShdw dir="5400000" dist="73269" blurRad="0">
              <a:srgbClr val="E6E6E6">
                <a:alpha val="100000"/>
              </a:srgbClr>
            </a:outerShdw>
          </a:effectLst>
        </p:spPr>
      </p:pic>
      <p:sp>
        <p:nvSpPr>
          <p:cNvPr name="TextBox 25" id="25"/>
          <p:cNvSpPr txBox="true"/>
          <p:nvPr/>
        </p:nvSpPr>
        <p:spPr>
          <a:xfrm rot="0">
            <a:off x="15265400" y="4394200"/>
            <a:ext cx="1841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100">
                <a:solidFill>
                  <a:srgbClr val="FFFFFF"/>
                </a:solidFill>
                <a:latin typeface="Pretendard Black"/>
              </a:rPr>
              <a:t>MySQL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55900" y="5753100"/>
            <a:ext cx="1473200" cy="1473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33900" y="6083300"/>
            <a:ext cx="825500" cy="825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47300" y="6083300"/>
            <a:ext cx="838200" cy="825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915900" y="6083300"/>
            <a:ext cx="927100" cy="825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773400" y="6083300"/>
            <a:ext cx="825500" cy="825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353300" y="6083300"/>
            <a:ext cx="825500" cy="8255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2319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05000" y="2578100"/>
            <a:ext cx="14541500" cy="687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08300" y="13589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Architecture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711200"/>
            <a:ext cx="2514600" cy="259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27813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27813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147800" y="5181600"/>
            <a:ext cx="1981200" cy="198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58600" y="3873500"/>
            <a:ext cx="1181100" cy="106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388600" y="3644900"/>
            <a:ext cx="3708400" cy="513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33300" y="5270500"/>
            <a:ext cx="1447800" cy="787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569700" y="7162800"/>
            <a:ext cx="1346200" cy="977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668000" y="5676900"/>
            <a:ext cx="1320800" cy="977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2940000">
            <a:off x="14503400" y="4229100"/>
            <a:ext cx="457200" cy="129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4380000">
            <a:off x="14465300" y="6591300"/>
            <a:ext cx="457200" cy="1295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340600" y="5397500"/>
            <a:ext cx="1930400" cy="1244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864100" y="4241800"/>
            <a:ext cx="2273300" cy="1549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273300" y="3441700"/>
            <a:ext cx="1790700" cy="889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451100" y="3543300"/>
            <a:ext cx="1384300" cy="914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667000" y="3848100"/>
            <a:ext cx="1384300" cy="863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946400" y="4076700"/>
            <a:ext cx="1409700" cy="952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3162300" y="4318000"/>
            <a:ext cx="1435100" cy="1041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4597400" y="6527800"/>
            <a:ext cx="2273300" cy="210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959600" y="6527800"/>
            <a:ext cx="939800" cy="1003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-5400000">
            <a:off x="7112000" y="4483100"/>
            <a:ext cx="939800" cy="1003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305300" y="4902200"/>
            <a:ext cx="952500" cy="241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2451100" y="6553200"/>
            <a:ext cx="1117600" cy="1003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108200" y="6223000"/>
            <a:ext cx="1257300" cy="1130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717800" y="6883400"/>
            <a:ext cx="1384300" cy="1244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962400" y="7416800"/>
            <a:ext cx="952500" cy="241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5400000">
            <a:off x="10871200" y="6502400"/>
            <a:ext cx="800100" cy="863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5400000">
            <a:off x="12179300" y="6489700"/>
            <a:ext cx="1168400" cy="393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9105900" y="3352800"/>
            <a:ext cx="3251200" cy="26670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2446000" y="4876800"/>
            <a:ext cx="9144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FD6F22"/>
                </a:solidFill>
                <a:latin typeface="Pretendard Regular"/>
              </a:rPr>
              <a:t>config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18800" y="5283200"/>
            <a:ext cx="6604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1187CF"/>
                </a:solidFill>
                <a:latin typeface="Pretendard Regular"/>
              </a:rPr>
              <a:t>VO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569700" y="6794500"/>
            <a:ext cx="9652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mapper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2319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908300" y="13589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DB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2578100"/>
            <a:ext cx="14541500" cy="687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711200"/>
            <a:ext cx="2514600" cy="259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27813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27813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35400" y="3632200"/>
            <a:ext cx="10604500" cy="5207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350000" y="26289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Table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2319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908300" y="13589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DB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2578100"/>
            <a:ext cx="14541500" cy="687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711200"/>
            <a:ext cx="2514600" cy="259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27813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27813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241800" y="3352800"/>
            <a:ext cx="9791700" cy="5943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350000" y="26289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ERD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2319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908300" y="13589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Class 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Light"/>
              </a:rPr>
              <a:t>Diagram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2578100"/>
            <a:ext cx="14541500" cy="687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711200"/>
            <a:ext cx="2514600" cy="259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27813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27813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089400" y="4102100"/>
            <a:ext cx="10096500" cy="4318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350000" y="26289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사원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내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정보조회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/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수정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, 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사원조회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2319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908300" y="13589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Class 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Light"/>
              </a:rPr>
              <a:t>Diagram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2578100"/>
            <a:ext cx="14541500" cy="687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711200"/>
            <a:ext cx="2514600" cy="259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27813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27813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02100" y="4102100"/>
            <a:ext cx="10096500" cy="3975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350000" y="26289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나의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근태관리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/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출퇴근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2319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908300" y="13589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Class 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Light"/>
              </a:rPr>
              <a:t>Diagram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2578100"/>
            <a:ext cx="14541500" cy="687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711200"/>
            <a:ext cx="2514600" cy="259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27813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27813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02100" y="3975100"/>
            <a:ext cx="10096500" cy="4660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350000" y="26289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문서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저장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/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공유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/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조회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2319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908300" y="13589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Class 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Light"/>
              </a:rPr>
              <a:t>Diagram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2578100"/>
            <a:ext cx="14541500" cy="687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711200"/>
            <a:ext cx="2514600" cy="259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27813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27813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02100" y="3771900"/>
            <a:ext cx="10096500" cy="5029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350000" y="26289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휴가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조회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/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신청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2319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908300" y="13589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Class 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Light"/>
              </a:rPr>
              <a:t>Diagram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2578100"/>
            <a:ext cx="14541500" cy="687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711200"/>
            <a:ext cx="2514600" cy="259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27813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27813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38800" y="3530600"/>
            <a:ext cx="6997700" cy="5511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350000" y="26289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관리자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Use Case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Light"/>
              </a:rPr>
              <a:t> Diagram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1181100"/>
            <a:ext cx="2514600" cy="259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66900" y="3175000"/>
            <a:ext cx="14541500" cy="5930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00700" y="3975100"/>
            <a:ext cx="7073900" cy="4851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172200" y="33401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925300" y="3340100"/>
            <a:ext cx="190500" cy="190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350000" y="31623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사원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로그인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701800"/>
            <a:ext cx="16002000" cy="1181100"/>
          </a:xfrm>
          <a:prstGeom prst="rect">
            <a:avLst/>
          </a:prstGeom>
          <a:effectLst>
            <a:outerShdw dir="5400000" dist="126586" blurRad="0">
              <a:srgbClr val="E6E6E6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908300" y="1828800"/>
            <a:ext cx="98679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Black"/>
              </a:rPr>
              <a:t>Use Case</a:t>
            </a:r>
            <a:r>
              <a:rPr lang="en-US" sz="5000" b="false" i="false" u="none" strike="noStrike">
                <a:solidFill>
                  <a:srgbClr val="000000"/>
                </a:solidFill>
                <a:latin typeface="Pretendard Light"/>
              </a:rPr>
              <a:t> Diagram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1181100"/>
            <a:ext cx="2514600" cy="259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66900" y="3175000"/>
            <a:ext cx="14541500" cy="5930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33401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25300" y="33401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53000" y="4381500"/>
            <a:ext cx="8394700" cy="3886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350000" y="3162300"/>
            <a:ext cx="5638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관리자</a:t>
            </a:r>
            <a:r>
              <a:rPr lang="en-US" sz="30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Pretendard SemiBold"/>
              </a:rPr>
              <a:t>로그인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4185900" y="4495800"/>
            <a:ext cx="37592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3296900" y="4495800"/>
            <a:ext cx="3759200" cy="177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" y="7759700"/>
            <a:ext cx="16002000" cy="1549400"/>
          </a:xfrm>
          <a:prstGeom prst="rect">
            <a:avLst/>
          </a:prstGeom>
          <a:effectLst>
            <a:outerShdw dir="5400000" dist="142585" blurRad="0">
              <a:srgbClr val="D8D8D8">
                <a:alpha val="10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600200" y="279400"/>
            <a:ext cx="13957300" cy="14122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20800" y="5969000"/>
            <a:ext cx="116586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 spc="100">
                <a:solidFill>
                  <a:srgbClr val="000000"/>
                </a:solidFill>
                <a:ea typeface="Pretendard ExtraBold"/>
              </a:rPr>
              <a:t>프로그램</a:t>
            </a:r>
            <a:r>
              <a:rPr lang="en-US" sz="8000" b="false" i="false" u="none" strike="noStrike" spc="100">
                <a:solidFill>
                  <a:srgbClr val="000000"/>
                </a:solidFill>
                <a:latin typeface="Pretendard ExtraBold"/>
              </a:rPr>
              <a:t> </a:t>
            </a:r>
            <a:r>
              <a:rPr lang="ko-KR" sz="8000" b="false" i="false" u="none" strike="noStrike" spc="100">
                <a:solidFill>
                  <a:srgbClr val="000000"/>
                </a:solidFill>
                <a:ea typeface="Pretendard ExtraBold"/>
              </a:rPr>
              <a:t>시연</a:t>
            </a:r>
            <a:r>
              <a:rPr lang="en-US" sz="8000" b="false" i="false" u="none" strike="noStrike" spc="100">
                <a:solidFill>
                  <a:srgbClr val="000000"/>
                </a:solidFill>
                <a:latin typeface="Pretendard ExtraBold"/>
              </a:rPr>
              <a:t>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6400" y="8077200"/>
            <a:ext cx="10045700" cy="812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사원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로그인</a:t>
            </a:r>
          </a:p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관리자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Pretendard SemiBold"/>
              </a:rPr>
              <a:t>로그인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16600" y="2781300"/>
            <a:ext cx="6642100" cy="5067300"/>
          </a:xfrm>
          <a:prstGeom prst="rect">
            <a:avLst/>
          </a:prstGeom>
          <a:effectLst>
            <a:outerShdw dir="5400000" dist="467404" blurRad="0">
              <a:srgbClr val="D8D8D8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6121400" y="3035300"/>
            <a:ext cx="29464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개선사항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21400" y="4165600"/>
            <a:ext cx="39751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문서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Extra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검색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Extra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기능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Extra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추가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21400" y="5486400"/>
            <a:ext cx="39751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코드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Extra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간소화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21400" y="4838700"/>
            <a:ext cx="39751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ExtraBold"/>
              </a:rPr>
              <a:t>UI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ExtraBold"/>
              </a:rPr>
              <a:t>개선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00600" y="3835400"/>
            <a:ext cx="8674100" cy="3098800"/>
          </a:xfrm>
          <a:prstGeom prst="rect">
            <a:avLst/>
          </a:prstGeom>
          <a:effectLst>
            <a:outerShdw dir="5400000" dist="286399" blurRad="0">
              <a:srgbClr val="D8D8D8">
                <a:alpha val="10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7708900" y="4445000"/>
            <a:ext cx="3124200" cy="177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0000" b="false" i="false" u="none" strike="noStrike" spc="100">
                <a:solidFill>
                  <a:srgbClr val="000000"/>
                </a:solidFill>
                <a:latin typeface="Pretendard ExtraBold"/>
              </a:rPr>
              <a:t>QnA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SIST 1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차</a:t>
            </a:r>
            <a:r>
              <a:rPr lang="en-US" sz="2100" b="false" i="false" u="none" strike="noStrike" spc="-100">
                <a:solidFill>
                  <a:srgbClr val="000000"/>
                </a:solidFill>
                <a:latin typeface="Pretendard Black"/>
              </a:rPr>
              <a:t> 4</a:t>
            </a:r>
            <a:r>
              <a:rPr lang="ko-KR" sz="2100" b="false" i="false" u="none" strike="noStrike" spc="-100">
                <a:solidFill>
                  <a:srgbClr val="000000"/>
                </a:solidFill>
                <a:ea typeface="Pretendard Black"/>
              </a:rPr>
              <a:t>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